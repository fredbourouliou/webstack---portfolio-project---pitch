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COBOL · ● live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spc="800" kern="0" dirty="0">
                <a:solidFill>
                  <a:srgbClr val="5DFF8E"/>
                </a:solidFill>
                <a:effectLst>
                  <a:glow rad="101600">
                    <a:srgbClr val="5DFF8E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LE COBOL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Decimal-precise invoicing for French freelancers, built on the same arithmetic banks have used since 1959.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4480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https://lecobol.com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4773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github.com/FredBourouliou/Webstack---Portfolio-Project---Pitch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5065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50657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Frédéric Bourouliou — solo, full-stack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5358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Holberton — Webstack Portfolio Project,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COBOL · ● live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million freelancers,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pains.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precision.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Cents must add up. Floats don't.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compliance.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286 + 242 nonies A + 293 B of the French CGI. No gaps, 10-year retention, VAT threshold tracking.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= data on US servers, vendor lock-in, monthly subscription you can't get out of.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5440680"/>
            <a:ext cx="4251960" cy="274320"/>
          </a:xfrm>
          <a:prstGeom prst="roundRect">
            <a:avLst>
              <a:gd name="adj" fmla="val 50000"/>
            </a:avLst>
          </a:prstGeom>
          <a:solidFill>
            <a:srgbClr val="14151C"/>
          </a:solidFill>
          <a:ln w="9525">
            <a:solidFill>
              <a:srgbClr val="3A3B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54406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3.2M micro-entrepreneurs actifs · URSSAF juin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5440680"/>
            <a:ext cx="3707892" cy="274320"/>
          </a:xfrm>
          <a:prstGeom prst="roundRect">
            <a:avLst>
              <a:gd name="adj" fmla="val 50000"/>
            </a:avLst>
          </a:prstGeom>
          <a:solidFill>
            <a:srgbClr val="14151C"/>
          </a:solidFill>
          <a:ln w="9525">
            <a:solidFill>
              <a:srgbClr val="3A3B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5440680"/>
            <a:ext cx="3616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10M+ companies impacted by e-invoicing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0" y="2560320"/>
            <a:ext cx="45720" cy="2377440"/>
          </a:xfrm>
          <a:prstGeom prst="rect">
            <a:avLst/>
          </a:prstGeom>
          <a:solidFill>
            <a:srgbClr val="5DFF8E"/>
          </a:solidFill>
          <a:ln w="12700">
            <a:solidFill>
              <a:srgbClr val="5DFF8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2560320"/>
            <a:ext cx="4892040" cy="237744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74320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JavaScript, Python, Ruby, Java floats, 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4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400" dirty="0">
                <a:solidFill>
                  <a:srgbClr val="FF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0.30000000000000004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COBOL, since 1959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4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4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5029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0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invoicing tool that can't add to two decimals isn't a tool — it's a liability.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COBOL · ● live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boring technologies,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load-bearing.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486400" cy="169164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633472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COBOL  1959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2971800"/>
            <a:ext cx="5084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fixed-point decimal. The PICTURE clause defines exact storage. No floats. No surprises on cents.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468880"/>
            <a:ext cx="5486400" cy="169164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2633472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POSTSCRIPT  1985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10528" y="2971800"/>
            <a:ext cx="5084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PDF rendering. Text-based intermediate language. Pixel-perfect placement by coordinate. Ghostscript converts .ps → .pdf.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5486400" cy="169164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599432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HTMX  2020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4937760"/>
            <a:ext cx="5084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Server-driven UI. 14 KB of JS. No JSON API. No virtual DOM. No build step. The response is the new view.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4434840"/>
            <a:ext cx="5486400" cy="169164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4599432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 CGI  1993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10528" y="4937760"/>
            <a:ext cx="5084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server-side glue. Apache forks the COBOL binary at each request. No app server, no runtime, no daemon to monitor.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COBOL · ● live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Old-tech where it counts,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where it matters.</a:t>
            </a:r>
            <a:endParaRPr lang="en-US" sz="3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5943600"/>
                <a:gridCol w="1005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5DFF8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LAYER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5DFF8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5DFF8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YEAR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/ business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GnuCOBOL 3.x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0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1959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rendering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PostScript + Ghostscript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0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1985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2.4 + mod_cgi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0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 + HTMX 2.x + CSS3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0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ISAM (indexed COBOL files)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0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1966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recherche-entreprises.api.gouv.fr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0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/ Infra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22.04 LTS · AWS EC2 t3.micro · eu-west-3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0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Let's Encrypt R13, HSTS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0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035040"/>
            <a:ext cx="2775204" cy="274320"/>
          </a:xfrm>
          <a:prstGeom prst="roundRect">
            <a:avLst>
              <a:gd name="adj" fmla="val 50000"/>
            </a:avLst>
          </a:prstGeom>
          <a:solidFill>
            <a:srgbClr val="14151C"/>
          </a:solidFill>
          <a:ln w="9525">
            <a:solidFill>
              <a:srgbClr val="2DBF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6035040"/>
            <a:ext cx="26837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Lighthouse 100 / 93 / 100 / 100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461004" y="6035040"/>
            <a:ext cx="1609344" cy="274320"/>
          </a:xfrm>
          <a:prstGeom prst="roundRect">
            <a:avLst>
              <a:gd name="adj" fmla="val 50000"/>
            </a:avLst>
          </a:prstGeom>
          <a:solidFill>
            <a:srgbClr val="14151C"/>
          </a:solidFill>
          <a:ln w="9525">
            <a:solidFill>
              <a:srgbClr val="2DBF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06724" y="60350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KB JS shipped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207508" y="6035040"/>
            <a:ext cx="2231136" cy="274320"/>
          </a:xfrm>
          <a:prstGeom prst="roundRect">
            <a:avLst>
              <a:gd name="adj" fmla="val 50000"/>
            </a:avLst>
          </a:prstGeom>
          <a:solidFill>
            <a:srgbClr val="14151C"/>
          </a:solidFill>
          <a:ln w="9525">
            <a:solidFill>
              <a:srgbClr val="2DBF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53228" y="603504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application-level deps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575804" y="603504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14151C"/>
          </a:solidFill>
          <a:ln w="9525">
            <a:solidFill>
              <a:srgbClr val="3A3B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21524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VPS · ~5 €/mo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COBOL · ● live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</a:t>
            </a:r>
            <a:pPr indent="0" marL="0">
              <a:buNone/>
            </a:pPr>
            <a:r>
              <a:rPr lang="en-US" sz="3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process </a:t>
            </a:r>
            <a:pPr indent="0" marL="0">
              <a:buNone/>
            </a:pPr>
            <a:r>
              <a:rPr lang="en-US" sz="3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binary.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949440" cy="411480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pic>
        <p:nvPicPr>
          <p:cNvPr id="7" name="Image 0" descr="/home/claude/pptx-build/diagram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103120"/>
            <a:ext cx="667512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920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7 BINARIES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2286000"/>
          <a:ext cx="3931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5DFF8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5DFF8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PURPOSE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5DFF8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hello.cob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0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smoke test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D9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auth.cob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0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login + sessions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D9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579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client.cob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0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CRUD clients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D9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738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invoice.cob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0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CRUD invoices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D9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1 391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dashboard.cob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0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KPIs + aging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D9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873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pdf-gen.cob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0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 orchestration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D9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sirene.cob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092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INSEE enrichment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D9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B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0" y="4846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~4 900 LOC + 11 copybooks (.cpy)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772400" y="5166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~50-100k LOC + 200 MB of node_modules in an equivalent SaaS stack.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772400" y="5715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0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code via COBOL copybooks: record structures, CGI utils, auth checks.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COBOL · ● live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peek inside </a:t>
            </a:r>
            <a:pPr indent="0" marL="0">
              <a:buNone/>
            </a:pPr>
            <a:r>
              <a:rPr lang="en-US" sz="32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invoice.cob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45720" cy="4206240"/>
          </a:xfrm>
          <a:prstGeom prst="rect">
            <a:avLst/>
          </a:prstGeom>
          <a:solidFill>
            <a:srgbClr val="5DFF8E"/>
          </a:solidFill>
          <a:ln w="12700">
            <a:solidFill>
              <a:srgbClr val="5DFF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920240"/>
            <a:ext cx="6903720" cy="420624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6492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INVOICE-RECORD.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INV-NUMBER         </a:t>
            </a:r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X(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      </a:t>
            </a:r>
            <a:pPr indent="0" marL="0">
              <a:buNone/>
            </a:pPr>
            <a:r>
              <a:rPr lang="en-US" sz="110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*&gt; "2026-0001"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INV-CLIENT-ID      </a:t>
            </a:r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X(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INV-DATE           </a:t>
            </a:r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X(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      </a:t>
            </a:r>
            <a:pPr indent="0" marL="0">
              <a:buNone/>
            </a:pPr>
            <a:r>
              <a:rPr lang="en-US" sz="110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*&gt; YYYY-MM-DD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INV-AMOUNT-HT      </a:t>
            </a:r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)V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  </a:t>
            </a:r>
            <a:pPr indent="0" marL="0">
              <a:buNone/>
            </a:pPr>
            <a:r>
              <a:rPr lang="en-US" sz="110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*&gt; max 9 999 999.99 €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INV-AMOUNT-TVA     </a:t>
            </a:r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)V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  </a:t>
            </a:r>
            <a:pPr indent="0" marL="0">
              <a:buNone/>
            </a:pPr>
            <a:r>
              <a:rPr lang="en-US" sz="110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*&gt; base 10, exact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INV-AMOUNT-TTC     </a:t>
            </a:r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)V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INV-URSSAF-RATE    </a:t>
            </a:r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9999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     </a:t>
            </a:r>
            <a:pPr indent="0" marL="0">
              <a:buNone/>
            </a:pPr>
            <a:r>
              <a:rPr lang="en-US" sz="110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*&gt; 0.231 = 23.1%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INV-STATUS         </a:t>
            </a:r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X(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      </a:t>
            </a:r>
            <a:pPr indent="0" marL="0">
              <a:buNone/>
            </a:pPr>
            <a:r>
              <a:rPr lang="en-US" sz="110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*&gt; DRAFT / SENT / PAID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INV-LINES </a:t>
            </a:r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OCCURS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      </a:t>
            </a:r>
            <a:pPr indent="0" marL="0">
              <a:buNone/>
            </a:pPr>
            <a:r>
              <a:rPr lang="en-US" sz="110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*&gt; inline, bounded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INV-DESC       </a:t>
            </a:r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X(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INV-QTY        </a:t>
            </a:r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)V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INV-UNIT-RATE  </a:t>
            </a:r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)V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INV-LINE-TOTAL </a:t>
            </a:r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)V</a:t>
            </a:r>
            <a:pPr indent="0" marL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0" y="1920240"/>
            <a:ext cx="3931920" cy="128016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73568" y="208483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HIERARCHICAL TYPING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73568" y="2423160"/>
            <a:ext cx="3529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01 / 05 / 10 — structure in the language, not in convention. No naming policy, no JSON schema.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3383280"/>
            <a:ext cx="3931920" cy="128016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73568" y="354787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FIXED-POINT DECIMAL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73568" y="3886200"/>
            <a:ext cx="3529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9(7)V99 = 7 digits + 2 decimals. Base 10 native, no IEEE 754 drift. Cents fall right, every time.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4846320"/>
            <a:ext cx="3931920" cy="128016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73568" y="501091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 COLLECTIONS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73568" y="5349240"/>
            <a:ext cx="3529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10 TIMES = bounded array inside the record. One disk read, one atomic write. Trade-off 1NF for atomicity at solo scope.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COBOL · ● live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ISAM, with a </a:t>
            </a:r>
            <a:pPr indent="0" marL="0">
              <a:buNone/>
            </a:pPr>
            <a:r>
              <a:rPr lang="en-US" sz="36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mind.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583680" cy="420624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pic>
        <p:nvPicPr>
          <p:cNvPr id="7" name="Image 0" descr="/home/claude/pptx-build/diagrams/datab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057400"/>
            <a:ext cx="6309360" cy="3931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0" y="1920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CONCEPTUAL / PHYSICAL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06640" y="228600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entities · 4 ISAM files (CONFIG is a singleton, USER is hardcoded)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alternate keys via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B+tree (Berkeley DB), O(log n)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INVOICE_LINE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embedded in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OCCURS 10 — one read per invoice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on clients — invoice history must survive (Article 286 CGI)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stored — derived at render time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5212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EQUIVALENT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06640" y="55321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0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in </a:t>
            </a:r>
            <a:pPr indent="0" marL="0">
              <a:buNone/>
            </a:pPr>
            <a:r>
              <a:rPr lang="en-US" sz="11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Cobill/docs/schema.sql</a:t>
            </a:r>
            <a:pPr indent="0" marL="0">
              <a:buNone/>
            </a:pPr>
            <a:r>
              <a:rPr lang="en-US" sz="1100" dirty="0">
                <a:solidFill>
                  <a:srgbClr val="90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5 tables with FK, CHECK constraints, indexes. Ready for SQLite/PostgreSQL migration if multi-tenant arrives.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COBOL · ● live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 API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SIRET, the form </a:t>
            </a:r>
            <a:pPr indent="0" marL="0">
              <a:buNone/>
            </a:pPr>
            <a:r>
              <a:rPr lang="en-US" sz="32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itself.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949440" cy="420624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pic>
        <p:nvPicPr>
          <p:cNvPr id="7" name="Image 0" descr="/home/claude/pptx-build/diagrams/sire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057400"/>
            <a:ext cx="6675120" cy="3931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IT'S THE RIGHT CALL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0" y="22860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public (DINUM), no API key, no PII collected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PII leaves the server — only the SIRET, itself public data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timeout on curl — graceful fallback to manual entry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HTML-escaped output — XSS-safe even with weird API payloads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5212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HTMX IDIOM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0" y="55321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hx-swap-oob='true'</a:t>
            </a:r>
            <a:pPr indent="0" marL="0">
              <a:buNone/>
            </a:pPr>
            <a:r>
              <a:rPr lang="en-US" sz="1100" dirty="0">
                <a:solidFill>
                  <a:srgbClr val="90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updates </a:t>
            </a:r>
            <a:pPr indent="0" marL="0">
              <a:buNone/>
            </a:pPr>
            <a:r>
              <a:rPr lang="en-US" sz="1100" i="1" dirty="0">
                <a:solidFill>
                  <a:srgbClr val="90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pPr indent="0" marL="0">
              <a:buNone/>
            </a:pPr>
            <a:r>
              <a:rPr lang="en-US" sz="1100" dirty="0">
                <a:solidFill>
                  <a:srgbClr val="90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 inputs from a single HTTP response. No custom JavaScript written.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COBOL · ● live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&amp; QUALITY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lines of defense.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703320" cy="182880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35915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3300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 R13, HTTPS forced, HSTS max-age=31536000 with includeSubDomains, automatic renewal via systemd timer.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703320" cy="182880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235915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90288" y="2697480"/>
            <a:ext cx="3300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sha512crypt via libc crypt(3), 16-char salt. Same hash family as /etc/shadow. Plaintext never touches disk. FFI binding via -fstatic-call.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2194560"/>
            <a:ext cx="3703320" cy="182880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235915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30768" y="2697480"/>
            <a:ext cx="3300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32-hex random token, HttpOnly + SameSite=Lax + Secure, 24 h expiry, ISAM-persisted, expired sessions refused on every request.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3703320" cy="182880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37083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XSS DEFENSE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4709160"/>
            <a:ext cx="3300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through HTML-ESCAPE — 5 chars in critical order. &amp; first to avoid re-escape. No JS templating to attack.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4206240"/>
            <a:ext cx="3703320" cy="182880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437083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SANITIZATION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90288" y="4709160"/>
            <a:ext cx="3300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digits-only on SIRET input. Shell injection structurally impossible — not by escape, by construction. Same principle on every user input.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0" y="4206240"/>
            <a:ext cx="3703320" cy="1828800"/>
          </a:xfrm>
          <a:prstGeom prst="rect">
            <a:avLst/>
          </a:prstGeom>
          <a:solidFill>
            <a:srgbClr val="14151C"/>
          </a:solidFill>
          <a:ln w="9525">
            <a:solidFill>
              <a:srgbClr val="2A2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0768" y="437083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 IN DEPTH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30768" y="4709160"/>
            <a:ext cx="3300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FilesMatch denies .dat / .idx / .cob / .cpy / .ps. UFW restricts to 22 / 80 / 443. 5 OWASP headers. Secrets in /etc/cobill/cobill.env (perms 0640).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COBOL · ● live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0" y="822960"/>
            <a:ext cx="3017520" cy="411480"/>
          </a:xfrm>
          <a:prstGeom prst="roundRect">
            <a:avLst>
              <a:gd name="adj" fmla="val 48889"/>
            </a:avLst>
          </a:prstGeom>
          <a:solidFill>
            <a:srgbClr val="0A0B0F"/>
          </a:solidFill>
          <a:ln w="12700">
            <a:solidFill>
              <a:srgbClr val="5DF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0" y="822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LIVE DEMO · ~7 MINUTES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164592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lecobol.com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200400" y="3291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3291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on the production site (real crypt(3) round-trip)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3749040"/>
            <a:ext cx="6583680" cy="0"/>
          </a:xfrm>
          <a:prstGeom prst="line">
            <a:avLst/>
          </a:prstGeom>
          <a:noFill/>
          <a:ln w="6350">
            <a:solidFill>
              <a:srgbClr val="2A2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3794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3794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client — enter a SIRET, hit [INSEE], the form auto-fills from the gov 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4251960"/>
            <a:ext cx="6583680" cy="0"/>
          </a:xfrm>
          <a:prstGeom prst="line">
            <a:avLst/>
          </a:prstGeom>
          <a:noFill/>
          <a:ln w="6350">
            <a:solidFill>
              <a:srgbClr val="2A2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4297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4297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invoice with 3 × 33,33 € — observe the line total reads exactly 99,99, not 99,990000...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4754880"/>
            <a:ext cx="6583680" cy="0"/>
          </a:xfrm>
          <a:prstGeom prst="line">
            <a:avLst/>
          </a:prstGeom>
          <a:noFill/>
          <a:ln w="6350">
            <a:solidFill>
              <a:srgbClr val="2A2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4800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4800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PDF — PostScript via Ghostscript, served straight from disk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5257800"/>
            <a:ext cx="6583680" cy="0"/>
          </a:xfrm>
          <a:prstGeom prst="line">
            <a:avLst/>
          </a:prstGeom>
          <a:noFill/>
          <a:ln w="6350">
            <a:solidFill>
              <a:srgbClr val="2A2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5303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5303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dashboard — quarterly URSSAF, VAT-threshold projection, aging buckets on overdue invoices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5760720"/>
            <a:ext cx="6583680" cy="0"/>
          </a:xfrm>
          <a:prstGeom prst="line">
            <a:avLst/>
          </a:prstGeom>
          <a:noFill/>
          <a:ln w="6350">
            <a:solidFill>
              <a:srgbClr val="2A2B3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COBOL · ● live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didn't,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COBOL CGI by Day 3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precision verified end-to-end (3 × 33,33 = 99,99)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 on Day 22: HTTPS, hashed auth, 29-assertion smoke test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integration on Day 25 — SIRET enrichment via gov.fr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legal model documented: Articles 286, 242 nonies A, 293 B CGI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093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FRICTIONS / FAILURES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09360" y="269748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PostScript learning curve (Days 8–10 nearly fully burned)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"crypt" resolution: needed -fstatic-call, debugged in production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envvars shell-mangled $ in $6$… hashes — single-quote fix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originally reload-ed instead of restart-ed — env vars stayed cached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I'D IMPROVE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accounts (single admin today)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on /cgi-bin/auth (mod_evasive or fail2ban)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Off-host backups (EBS snapshots → S3 → Glacier lifecycle)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FastCGI if/when concurrency outgrows fork-per-request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480060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B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électronique 2026/2027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PDP integration or Chorus Pro for B2G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with bcrypt-grade per-user hashing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 links embedded in invoice PDFs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→ invoice conversion + recurring invoices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COBOL · ● live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CLOSING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280160"/>
            <a:ext cx="12191695" cy="365760"/>
          </a:xfrm>
          <a:prstGeom prst="rect">
            <a:avLst/>
          </a:prstGeom>
          <a:solidFill>
            <a:srgbClr val="0A0B0F"/>
          </a:solidFill>
          <a:ln w="12700">
            <a:solidFill>
              <a:srgbClr val="0A0B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2801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CLOSING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figured this out in 1959.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5DF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web frameworks still haven't.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67-year-old language can still be the correct answer when correctness on money is non-negotiable.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https://lecobol.com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F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github.com/FredBourouliou/Webstack---Portfolio-Project---Pitch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61264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0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Holberton — Webstack Portfolio Project, May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Cobol — Portfolio Pitch</dc:title>
  <dc:subject>PptxGenJS Presentation</dc:subject>
  <dc:creator>Frédéric Bourouliou</dc:creator>
  <cp:lastModifiedBy>Frédéric Bourouliou</cp:lastModifiedBy>
  <cp:revision>1</cp:revision>
  <dcterms:created xsi:type="dcterms:W3CDTF">2026-05-13T18:45:27Z</dcterms:created>
  <dcterms:modified xsi:type="dcterms:W3CDTF">2026-05-13T18:45:27Z</dcterms:modified>
</cp:coreProperties>
</file>