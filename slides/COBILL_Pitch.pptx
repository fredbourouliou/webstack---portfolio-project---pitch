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EF89497-3883-47B6-A728-E9859BB901C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E971B17-6AE8-4D3E-B374-C6370DA64F5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845C111-A72D-4C7D-B3F1-BDB89A7D067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FF8E9C-C5C5-45A8-88D3-A9E4F6088E8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E4EA4E4-5490-4FD5-A7C4-E910F3CC7A1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29383ED-A0DE-42D8-8E03-E91043EEA06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53D9EE1-B624-4593-B811-280DB332A33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02F4076-46A9-4A80-ABAC-EDF04ED1593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F715083-17BF-4568-A4C4-6945101F099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texte-titre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16A6F8A-8ED7-4DC8-8BEA-7D3011E3F13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BF378B-013C-4D4E-BBE7-1CC93EE796D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1"/>
          <p:cNvSpPr/>
          <p:nvPr/>
        </p:nvSpPr>
        <p:spPr>
          <a:xfrm>
            <a:off x="0" y="1188720"/>
            <a:ext cx="121914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681"/>
              </a:lnSpc>
            </a:pPr>
            <a:r>
              <a:rPr b="1" lang="en-US" sz="14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WEBSTACK PORTFOLIO PROJECT</a:t>
            </a:r>
            <a:endParaRPr b="0" lang="fr-F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Box 2"/>
          <p:cNvSpPr/>
          <p:nvPr/>
        </p:nvSpPr>
        <p:spPr>
          <a:xfrm>
            <a:off x="4692240" y="2011680"/>
            <a:ext cx="280656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7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</a:t>
            </a:r>
            <a:r>
              <a:rPr b="1" lang="en-US" sz="72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BILL</a:t>
            </a:r>
            <a:endParaRPr b="0" lang="fr-FR" sz="7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3"/>
          <p:cNvSpPr/>
          <p:nvPr/>
        </p:nvSpPr>
        <p:spPr>
          <a:xfrm>
            <a:off x="0" y="3108960"/>
            <a:ext cx="1219140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2639"/>
              </a:lnSpc>
            </a:pPr>
            <a:r>
              <a:rPr b="0" lang="en-US" sz="22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Invoicing powered by the language of banks</a:t>
            </a:r>
            <a:br>
              <a:rPr sz="2200"/>
            </a:br>
            <a:r>
              <a:rPr b="0" lang="en-US" sz="22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and the language of printers.</a:t>
            </a:r>
            <a:endParaRPr b="0" lang="fr-FR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4"/>
          <p:cNvSpPr/>
          <p:nvPr/>
        </p:nvSpPr>
        <p:spPr>
          <a:xfrm>
            <a:off x="4009320" y="4206240"/>
            <a:ext cx="417276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8888a0"/>
                </a:solidFill>
                <a:effectLst/>
                <a:uFillTx/>
                <a:latin typeface="Consolas"/>
              </a:rPr>
              <a:t>COBOL</a:t>
            </a:r>
            <a:r>
              <a:rPr b="0" lang="en-US" sz="18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 +  </a:t>
            </a:r>
            <a:r>
              <a:rPr b="0" lang="en-US" sz="1800" strike="noStrike" u="none">
                <a:solidFill>
                  <a:srgbClr val="8888a0"/>
                </a:solidFill>
                <a:effectLst/>
                <a:uFillTx/>
                <a:latin typeface="Consolas"/>
              </a:rPr>
              <a:t>PostScript</a:t>
            </a:r>
            <a:r>
              <a:rPr b="0" lang="en-US" sz="18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 +  </a:t>
            </a:r>
            <a:r>
              <a:rPr b="0" lang="en-US" sz="1800" strike="noStrike" u="none">
                <a:solidFill>
                  <a:srgbClr val="8888a0"/>
                </a:solidFill>
                <a:effectLst/>
                <a:uFillTx/>
                <a:latin typeface="Consolas"/>
              </a:rPr>
              <a:t>HTMX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5"/>
          <p:cNvSpPr/>
          <p:nvPr/>
        </p:nvSpPr>
        <p:spPr>
          <a:xfrm>
            <a:off x="0" y="5303520"/>
            <a:ext cx="121914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919"/>
              </a:lnSpc>
            </a:pPr>
            <a:r>
              <a:rPr b="0" lang="en-US" sz="16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Frédéric Bourouliou — Solo Developer</a:t>
            </a:r>
            <a:endParaRPr b="0" lang="fr-F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6"/>
          <p:cNvSpPr/>
          <p:nvPr/>
        </p:nvSpPr>
        <p:spPr>
          <a:xfrm>
            <a:off x="10972800" y="6400800"/>
            <a:ext cx="7311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r" defTabSz="457200">
              <a:lnSpc>
                <a:spcPts val="1199"/>
              </a:lnSpc>
            </a:pPr>
            <a:r>
              <a:rPr b="0" lang="en-US" sz="1000" strike="noStrike" u="none">
                <a:solidFill>
                  <a:srgbClr val="8888a0"/>
                </a:solidFill>
                <a:effectLst/>
                <a:uFillTx/>
                <a:latin typeface="Consolas"/>
              </a:rPr>
              <a:t>01 / 14</a:t>
            </a:r>
            <a:endParaRPr b="0" lang="fr-F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1"/>
          <p:cNvSpPr/>
          <p:nvPr/>
        </p:nvSpPr>
        <p:spPr>
          <a:xfrm>
            <a:off x="731520" y="457200"/>
            <a:ext cx="365724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b="1" lang="en-US" sz="12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TEAM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731520" y="822960"/>
            <a:ext cx="305856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Solo </a:t>
            </a:r>
            <a:r>
              <a:rPr b="1" lang="en-US" sz="36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Developer</a:t>
            </a:r>
            <a:endParaRPr b="0" lang="fr-F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Rounded Rectangle 3"/>
          <p:cNvSpPr/>
          <p:nvPr/>
        </p:nvSpPr>
        <p:spPr>
          <a:xfrm>
            <a:off x="731520" y="1828800"/>
            <a:ext cx="5028840" cy="3200040"/>
          </a:xfrm>
          <a:prstGeom prst="roundRect">
            <a:avLst>
              <a:gd name="adj" fmla="val 16667"/>
            </a:avLst>
          </a:prstGeom>
          <a:solidFill>
            <a:srgbClr val="181924"/>
          </a:solidFill>
          <a:ln w="12700">
            <a:solidFill>
              <a:srgbClr val="1a8c1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Rectangle 4"/>
          <p:cNvSpPr/>
          <p:nvPr/>
        </p:nvSpPr>
        <p:spPr>
          <a:xfrm>
            <a:off x="731520" y="1828800"/>
            <a:ext cx="5028840" cy="36360"/>
          </a:xfrm>
          <a:prstGeom prst="rect">
            <a:avLst/>
          </a:prstGeom>
          <a:solidFill>
            <a:srgbClr val="33ff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5"/>
          <p:cNvSpPr/>
          <p:nvPr/>
        </p:nvSpPr>
        <p:spPr>
          <a:xfrm>
            <a:off x="1097280" y="2103120"/>
            <a:ext cx="4114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681"/>
              </a:lnSpc>
            </a:pPr>
            <a:r>
              <a:rPr b="1" lang="en-US" sz="14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FRÉDÉRIC BOUROULIOU</a:t>
            </a:r>
            <a:endParaRPr b="0" lang="fr-F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6"/>
          <p:cNvSpPr/>
          <p:nvPr/>
        </p:nvSpPr>
        <p:spPr>
          <a:xfrm>
            <a:off x="1097280" y="2651760"/>
            <a:ext cx="4388760" cy="22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2251"/>
              </a:lnSpc>
              <a:spcAft>
                <a:spcPts val="201"/>
              </a:spcAft>
            </a:pPr>
            <a:r>
              <a:rPr b="0" lang="en-US" sz="1500" strike="noStrike" u="none">
                <a:solidFill>
                  <a:srgbClr val="e0e0ef"/>
                </a:solidFill>
                <a:effectLst/>
                <a:uFillTx/>
                <a:latin typeface="Calibri"/>
              </a:rPr>
              <a:t>&gt; Full-Stack Development</a:t>
            </a:r>
            <a:endParaRPr b="0" lang="fr-F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2251"/>
              </a:lnSpc>
              <a:spcAft>
                <a:spcPts val="201"/>
              </a:spcAft>
            </a:pPr>
            <a:r>
              <a:rPr b="0" lang="en-US" sz="1500" strike="noStrike" u="none">
                <a:solidFill>
                  <a:srgbClr val="e0e0ef"/>
                </a:solidFill>
                <a:effectLst/>
                <a:uFillTx/>
                <a:latin typeface="Calibri"/>
              </a:rPr>
              <a:t>&gt; COBOL Backend &amp; Financial Engine</a:t>
            </a:r>
            <a:endParaRPr b="0" lang="fr-F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2251"/>
              </a:lnSpc>
              <a:spcAft>
                <a:spcPts val="201"/>
              </a:spcAft>
            </a:pPr>
            <a:r>
              <a:rPr b="0" lang="en-US" sz="1500" strike="noStrike" u="none">
                <a:solidFill>
                  <a:srgbClr val="e0e0ef"/>
                </a:solidFill>
                <a:effectLst/>
                <a:uFillTx/>
                <a:latin typeface="Calibri"/>
              </a:rPr>
              <a:t>&gt; PostScript PDF Generation</a:t>
            </a:r>
            <a:endParaRPr b="0" lang="fr-F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2251"/>
              </a:lnSpc>
              <a:spcAft>
                <a:spcPts val="201"/>
              </a:spcAft>
            </a:pPr>
            <a:r>
              <a:rPr b="0" lang="en-US" sz="1500" strike="noStrike" u="none">
                <a:solidFill>
                  <a:srgbClr val="e0e0ef"/>
                </a:solidFill>
                <a:effectLst/>
                <a:uFillTx/>
                <a:latin typeface="Calibri"/>
              </a:rPr>
              <a:t>&gt; HTMX Frontend &amp; UI Design</a:t>
            </a:r>
            <a:endParaRPr b="0" lang="fr-F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2251"/>
              </a:lnSpc>
              <a:spcAft>
                <a:spcPts val="201"/>
              </a:spcAft>
            </a:pPr>
            <a:r>
              <a:rPr b="0" lang="en-US" sz="1500" strike="noStrike" u="none">
                <a:solidFill>
                  <a:srgbClr val="e0e0ef"/>
                </a:solidFill>
                <a:effectLst/>
                <a:uFillTx/>
                <a:latin typeface="Calibri"/>
              </a:rPr>
              <a:t>&gt; AWS Deployment &amp; DevOps</a:t>
            </a:r>
            <a:endParaRPr b="0" lang="fr-F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Rounded Rectangle 7"/>
          <p:cNvSpPr/>
          <p:nvPr/>
        </p:nvSpPr>
        <p:spPr>
          <a:xfrm>
            <a:off x="6400800" y="1828800"/>
            <a:ext cx="5028840" cy="3200040"/>
          </a:xfrm>
          <a:prstGeom prst="roundRect">
            <a:avLst>
              <a:gd name="adj" fmla="val 16667"/>
            </a:avLst>
          </a:prstGeom>
          <a:solidFill>
            <a:srgbClr val="1819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8"/>
          <p:cNvSpPr/>
          <p:nvPr/>
        </p:nvSpPr>
        <p:spPr>
          <a:xfrm>
            <a:off x="6766560" y="2103120"/>
            <a:ext cx="4114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681"/>
              </a:lnSpc>
            </a:pPr>
            <a:r>
              <a:rPr b="1" lang="en-US" sz="1400" strike="noStrike" u="none">
                <a:solidFill>
                  <a:srgbClr val="8888a0"/>
                </a:solidFill>
                <a:effectLst/>
                <a:uFillTx/>
                <a:latin typeface="Consolas"/>
              </a:rPr>
              <a:t>WHY SOLO?</a:t>
            </a:r>
            <a:endParaRPr b="0" lang="fr-F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9"/>
          <p:cNvSpPr/>
          <p:nvPr/>
        </p:nvSpPr>
        <p:spPr>
          <a:xfrm>
            <a:off x="6766560" y="2651760"/>
            <a:ext cx="4388760" cy="22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2251"/>
              </a:lnSpc>
            </a:pPr>
            <a:r>
              <a:rPr b="0" lang="en-US" sz="15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This project explores niche technologies (COBOL, PostScript) with very few online resources. A solo approach allows deep focus and end-to-end ownership of every layer of the stack.</a:t>
            </a:r>
            <a:endParaRPr b="0" lang="fr-F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0"/>
          <p:cNvSpPr/>
          <p:nvPr/>
        </p:nvSpPr>
        <p:spPr>
          <a:xfrm>
            <a:off x="10972800" y="6400800"/>
            <a:ext cx="7311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r" defTabSz="457200">
              <a:lnSpc>
                <a:spcPts val="1199"/>
              </a:lnSpc>
            </a:pPr>
            <a:r>
              <a:rPr b="0" lang="en-US" sz="1000" strike="noStrike" u="none">
                <a:solidFill>
                  <a:srgbClr val="8888a0"/>
                </a:solidFill>
                <a:effectLst/>
                <a:uFillTx/>
                <a:latin typeface="Consolas"/>
              </a:rPr>
              <a:t>02 / 14</a:t>
            </a:r>
            <a:endParaRPr b="0" lang="fr-F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1"/>
          <p:cNvSpPr/>
          <p:nvPr/>
        </p:nvSpPr>
        <p:spPr>
          <a:xfrm>
            <a:off x="731520" y="457200"/>
            <a:ext cx="365724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b="1" lang="en-US" sz="12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THE PROBLEM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731520" y="822960"/>
            <a:ext cx="848448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2 million freelancers. </a:t>
            </a:r>
            <a:r>
              <a:rPr b="1" lang="en-US" sz="36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One broken workflow.</a:t>
            </a:r>
            <a:endParaRPr b="0" lang="fr-F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3"/>
          <p:cNvSpPr/>
          <p:nvPr/>
        </p:nvSpPr>
        <p:spPr>
          <a:xfrm>
            <a:off x="731520" y="2011680"/>
            <a:ext cx="2468520" cy="1828440"/>
          </a:xfrm>
          <a:prstGeom prst="roundRect">
            <a:avLst>
              <a:gd name="adj" fmla="val 16667"/>
            </a:avLst>
          </a:prstGeom>
          <a:solidFill>
            <a:srgbClr val="1819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4"/>
          <p:cNvSpPr/>
          <p:nvPr/>
        </p:nvSpPr>
        <p:spPr>
          <a:xfrm>
            <a:off x="822960" y="2194560"/>
            <a:ext cx="228564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4320"/>
              </a:lnSpc>
            </a:pPr>
            <a:r>
              <a:rPr b="1" lang="en-US" sz="36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2M+</a:t>
            </a:r>
            <a:endParaRPr b="0" lang="fr-F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822960" y="2788920"/>
            <a:ext cx="22856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321"/>
              </a:lnSpc>
            </a:pP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Auto-entrepreneurs</a:t>
            </a:r>
            <a:br>
              <a:rPr sz="1100"/>
            </a:b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in France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Rounded Rectangle 6"/>
          <p:cNvSpPr/>
          <p:nvPr/>
        </p:nvSpPr>
        <p:spPr>
          <a:xfrm>
            <a:off x="3566160" y="2011680"/>
            <a:ext cx="2468520" cy="1828440"/>
          </a:xfrm>
          <a:prstGeom prst="roundRect">
            <a:avLst>
              <a:gd name="adj" fmla="val 16667"/>
            </a:avLst>
          </a:prstGeom>
          <a:solidFill>
            <a:srgbClr val="1819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7"/>
          <p:cNvSpPr/>
          <p:nvPr/>
        </p:nvSpPr>
        <p:spPr>
          <a:xfrm>
            <a:off x="3657600" y="2194560"/>
            <a:ext cx="228564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4320"/>
              </a:lnSpc>
            </a:pPr>
            <a:r>
              <a:rPr b="1" lang="en-US" sz="3600" strike="noStrike" u="none">
                <a:solidFill>
                  <a:srgbClr val="ff6b35"/>
                </a:solidFill>
                <a:effectLst/>
                <a:uFillTx/>
                <a:latin typeface="Calibri"/>
              </a:rPr>
              <a:t>22%</a:t>
            </a:r>
            <a:endParaRPr b="0" lang="fr-F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8"/>
          <p:cNvSpPr/>
          <p:nvPr/>
        </p:nvSpPr>
        <p:spPr>
          <a:xfrm>
            <a:off x="3657600" y="2788920"/>
            <a:ext cx="22856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321"/>
              </a:lnSpc>
            </a:pP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URSSAF rate</a:t>
            </a:r>
            <a:br>
              <a:rPr sz="1100"/>
            </a:b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often miscalculated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Rounded Rectangle 9"/>
          <p:cNvSpPr/>
          <p:nvPr/>
        </p:nvSpPr>
        <p:spPr>
          <a:xfrm>
            <a:off x="6400800" y="2011680"/>
            <a:ext cx="2468520" cy="1828440"/>
          </a:xfrm>
          <a:prstGeom prst="roundRect">
            <a:avLst>
              <a:gd name="adj" fmla="val 16667"/>
            </a:avLst>
          </a:prstGeom>
          <a:solidFill>
            <a:srgbClr val="1819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6492240" y="2194560"/>
            <a:ext cx="228564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4320"/>
              </a:lnSpc>
            </a:pPr>
            <a:r>
              <a:rPr b="1" lang="en-US" sz="3600" strike="noStrike" u="none">
                <a:solidFill>
                  <a:srgbClr val="ff4d6a"/>
                </a:solidFill>
                <a:effectLst/>
                <a:uFillTx/>
                <a:latin typeface="Calibri"/>
              </a:rPr>
              <a:t>€36.8K</a:t>
            </a:r>
            <a:endParaRPr b="0" lang="fr-F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1"/>
          <p:cNvSpPr/>
          <p:nvPr/>
        </p:nvSpPr>
        <p:spPr>
          <a:xfrm>
            <a:off x="6492240" y="2788920"/>
            <a:ext cx="22856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321"/>
              </a:lnSpc>
            </a:pP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VAT threshold</a:t>
            </a:r>
            <a:br>
              <a:rPr sz="1100"/>
            </a:b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easy to miss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12"/>
          <p:cNvSpPr/>
          <p:nvPr/>
        </p:nvSpPr>
        <p:spPr>
          <a:xfrm>
            <a:off x="9235440" y="2011680"/>
            <a:ext cx="2468520" cy="1828440"/>
          </a:xfrm>
          <a:prstGeom prst="roundRect">
            <a:avLst>
              <a:gd name="adj" fmla="val 16667"/>
            </a:avLst>
          </a:prstGeom>
          <a:solidFill>
            <a:srgbClr val="1819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13"/>
          <p:cNvSpPr/>
          <p:nvPr/>
        </p:nvSpPr>
        <p:spPr>
          <a:xfrm>
            <a:off x="9326880" y="2194560"/>
            <a:ext cx="228564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4320"/>
              </a:lnSpc>
            </a:pPr>
            <a:r>
              <a:rPr b="1" lang="en-US" sz="3600" strike="noStrike" u="none">
                <a:solidFill>
                  <a:srgbClr val="a78bfa"/>
                </a:solidFill>
                <a:effectLst/>
                <a:uFillTx/>
                <a:latin typeface="Calibri"/>
              </a:rPr>
              <a:t>€15+/mo</a:t>
            </a:r>
            <a:endParaRPr b="0" lang="fr-F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4"/>
          <p:cNvSpPr/>
          <p:nvPr/>
        </p:nvSpPr>
        <p:spPr>
          <a:xfrm>
            <a:off x="9326880" y="2788920"/>
            <a:ext cx="22856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321"/>
              </a:lnSpc>
            </a:pP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For bloated</a:t>
            </a:r>
            <a:br>
              <a:rPr sz="1100"/>
            </a:b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SaaS tools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Rounded Rectangle 15"/>
          <p:cNvSpPr/>
          <p:nvPr/>
        </p:nvSpPr>
        <p:spPr>
          <a:xfrm>
            <a:off x="731520" y="4389120"/>
            <a:ext cx="10698120" cy="914040"/>
          </a:xfrm>
          <a:prstGeom prst="roundRect">
            <a:avLst>
              <a:gd name="adj" fmla="val 16667"/>
            </a:avLst>
          </a:prstGeom>
          <a:solidFill>
            <a:srgbClr val="1213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Rectangle 16"/>
          <p:cNvSpPr/>
          <p:nvPr/>
        </p:nvSpPr>
        <p:spPr>
          <a:xfrm>
            <a:off x="731520" y="4389120"/>
            <a:ext cx="54360" cy="36360"/>
          </a:xfrm>
          <a:prstGeom prst="rect">
            <a:avLst/>
          </a:prstGeom>
          <a:solidFill>
            <a:srgbClr val="33ff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17"/>
          <p:cNvSpPr/>
          <p:nvPr/>
        </p:nvSpPr>
        <p:spPr>
          <a:xfrm>
            <a:off x="1188720" y="4526280"/>
            <a:ext cx="987516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2038"/>
              </a:lnSpc>
            </a:pPr>
            <a:r>
              <a:rPr b="0" lang="en-US" sz="17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"Most invoicing apps ship megabytes of JavaScript</a:t>
            </a:r>
            <a:br>
              <a:rPr sz="1700"/>
            </a:br>
            <a:r>
              <a:rPr b="0" lang="en-US" sz="17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for what is fundamentally an arithmetic problem."</a:t>
            </a:r>
            <a:endParaRPr b="0" lang="fr-FR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8"/>
          <p:cNvSpPr/>
          <p:nvPr/>
        </p:nvSpPr>
        <p:spPr>
          <a:xfrm>
            <a:off x="10972800" y="6400800"/>
            <a:ext cx="7311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r" defTabSz="457200">
              <a:lnSpc>
                <a:spcPts val="1199"/>
              </a:lnSpc>
            </a:pPr>
            <a:r>
              <a:rPr b="0" lang="en-US" sz="1000" strike="noStrike" u="none">
                <a:solidFill>
                  <a:srgbClr val="8888a0"/>
                </a:solidFill>
                <a:effectLst/>
                <a:uFillTx/>
                <a:latin typeface="Consolas"/>
              </a:rPr>
              <a:t>03 / 14</a:t>
            </a:r>
            <a:endParaRPr b="0" lang="fr-F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 1"/>
          <p:cNvSpPr/>
          <p:nvPr/>
        </p:nvSpPr>
        <p:spPr>
          <a:xfrm>
            <a:off x="731520" y="457200"/>
            <a:ext cx="365724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b="1" lang="en-US" sz="12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THE CORE ISSUE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2"/>
          <p:cNvSpPr/>
          <p:nvPr/>
        </p:nvSpPr>
        <p:spPr>
          <a:xfrm>
            <a:off x="731520" y="822960"/>
            <a:ext cx="436788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Your code </a:t>
            </a:r>
            <a:r>
              <a:rPr b="1" lang="en-US" sz="36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can't count.</a:t>
            </a:r>
            <a:endParaRPr b="0" lang="fr-F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Rounded Rectangle 3"/>
          <p:cNvSpPr/>
          <p:nvPr/>
        </p:nvSpPr>
        <p:spPr>
          <a:xfrm>
            <a:off x="731520" y="2011680"/>
            <a:ext cx="5028840" cy="3200040"/>
          </a:xfrm>
          <a:prstGeom prst="roundRect">
            <a:avLst>
              <a:gd name="adj" fmla="val 16667"/>
            </a:avLst>
          </a:prstGeom>
          <a:solidFill>
            <a:srgbClr val="181924"/>
          </a:solidFill>
          <a:ln w="12700">
            <a:solidFill>
              <a:srgbClr val="ff4d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Rectangle 4"/>
          <p:cNvSpPr/>
          <p:nvPr/>
        </p:nvSpPr>
        <p:spPr>
          <a:xfrm>
            <a:off x="731520" y="2011680"/>
            <a:ext cx="5028840" cy="36360"/>
          </a:xfrm>
          <a:prstGeom prst="rect">
            <a:avLst/>
          </a:prstGeom>
          <a:solidFill>
            <a:srgbClr val="ff4d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5"/>
          <p:cNvSpPr/>
          <p:nvPr/>
        </p:nvSpPr>
        <p:spPr>
          <a:xfrm>
            <a:off x="1097280" y="2194560"/>
            <a:ext cx="4114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559"/>
              </a:lnSpc>
            </a:pPr>
            <a:r>
              <a:rPr b="1" lang="en-US" sz="1300" strike="noStrike" u="none">
                <a:solidFill>
                  <a:srgbClr val="ff4d6a"/>
                </a:solidFill>
                <a:effectLst/>
                <a:uFillTx/>
                <a:latin typeface="Consolas"/>
              </a:rPr>
              <a:t>JAVASCRIPT / PYTHON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6"/>
          <p:cNvSpPr/>
          <p:nvPr/>
        </p:nvSpPr>
        <p:spPr>
          <a:xfrm>
            <a:off x="1097280" y="2743200"/>
            <a:ext cx="4571640" cy="22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689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8888a0"/>
                </a:solidFill>
                <a:effectLst/>
                <a:uFillTx/>
                <a:latin typeface="Consolas"/>
              </a:rPr>
              <a:t>// Every modern language: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780"/>
              </a:lnSpc>
              <a:spcAft>
                <a:spcPts val="201"/>
              </a:spcAft>
            </a:pPr>
            <a:endParaRPr b="0" lang="fr-FR" sz="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950"/>
              </a:lnSpc>
              <a:spcAft>
                <a:spcPts val="201"/>
              </a:spcAft>
            </a:pPr>
            <a:r>
              <a:rPr b="0" lang="en-US" sz="1500" strike="noStrike" u="none">
                <a:solidFill>
                  <a:srgbClr val="ff6b35"/>
                </a:solidFill>
                <a:effectLst/>
                <a:uFillTx/>
                <a:latin typeface="Consolas"/>
              </a:rPr>
              <a:t>0.1 + 0.2 = 0.30000000000000004</a:t>
            </a:r>
            <a:endParaRPr b="0" lang="fr-F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950"/>
              </a:lnSpc>
              <a:spcAft>
                <a:spcPts val="201"/>
              </a:spcAft>
            </a:pPr>
            <a:r>
              <a:rPr b="0" lang="en-US" sz="1500" strike="noStrike" u="none">
                <a:solidFill>
                  <a:srgbClr val="ff6b35"/>
                </a:solidFill>
                <a:effectLst/>
                <a:uFillTx/>
                <a:latin typeface="Consolas"/>
              </a:rPr>
              <a:t>1.1 * 1.1 = 1.2100000000000002</a:t>
            </a:r>
            <a:endParaRPr b="0" lang="fr-F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950"/>
              </a:lnSpc>
              <a:spcAft>
                <a:spcPts val="201"/>
              </a:spcAft>
            </a:pPr>
            <a:r>
              <a:rPr b="0" lang="en-US" sz="1500" strike="noStrike" u="none">
                <a:solidFill>
                  <a:srgbClr val="ff6b35"/>
                </a:solidFill>
                <a:effectLst/>
                <a:uFillTx/>
                <a:latin typeface="Consolas"/>
              </a:rPr>
              <a:t>0.3 - 0.1 = 0.19999999999999998</a:t>
            </a:r>
            <a:endParaRPr b="0" lang="fr-F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780"/>
              </a:lnSpc>
              <a:spcAft>
                <a:spcPts val="201"/>
              </a:spcAft>
            </a:pPr>
            <a:endParaRPr b="0" lang="fr-FR" sz="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689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8888a0"/>
                </a:solidFill>
                <a:effectLst/>
                <a:uFillTx/>
                <a:latin typeface="Consolas"/>
              </a:rPr>
              <a:t>// Floating-point arithmetic.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689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8888a0"/>
                </a:solidFill>
                <a:effectLst/>
                <a:uFillTx/>
                <a:latin typeface="Consolas"/>
              </a:rPr>
              <a:t>// Silent rounding errors.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7"/>
          <p:cNvSpPr/>
          <p:nvPr/>
        </p:nvSpPr>
        <p:spPr>
          <a:xfrm>
            <a:off x="6400800" y="2011680"/>
            <a:ext cx="5028840" cy="3200040"/>
          </a:xfrm>
          <a:prstGeom prst="roundRect">
            <a:avLst>
              <a:gd name="adj" fmla="val 16667"/>
            </a:avLst>
          </a:prstGeom>
          <a:solidFill>
            <a:srgbClr val="181924"/>
          </a:solidFill>
          <a:ln w="12700">
            <a:solidFill>
              <a:srgbClr val="1a8c1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Rectangle 8"/>
          <p:cNvSpPr/>
          <p:nvPr/>
        </p:nvSpPr>
        <p:spPr>
          <a:xfrm>
            <a:off x="6400800" y="2011680"/>
            <a:ext cx="5028840" cy="36360"/>
          </a:xfrm>
          <a:prstGeom prst="rect">
            <a:avLst/>
          </a:prstGeom>
          <a:solidFill>
            <a:srgbClr val="33ff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9"/>
          <p:cNvSpPr/>
          <p:nvPr/>
        </p:nvSpPr>
        <p:spPr>
          <a:xfrm>
            <a:off x="6766560" y="2194560"/>
            <a:ext cx="4114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559"/>
              </a:lnSpc>
            </a:pPr>
            <a:r>
              <a:rPr b="1" lang="en-US" sz="13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COBOL (SINCE 1959)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10"/>
          <p:cNvSpPr/>
          <p:nvPr/>
        </p:nvSpPr>
        <p:spPr>
          <a:xfrm>
            <a:off x="6766560" y="2743200"/>
            <a:ext cx="4571640" cy="22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950"/>
              </a:lnSpc>
              <a:spcAft>
                <a:spcPts val="201"/>
              </a:spcAft>
            </a:pPr>
            <a:r>
              <a:rPr b="0" lang="en-US" sz="15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01 AMOUNT  PIC 9(5)V99.</a:t>
            </a:r>
            <a:endParaRPr b="0" lang="fr-F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689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8888a0"/>
                </a:solidFill>
                <a:effectLst/>
                <a:uFillTx/>
                <a:latin typeface="Consolas"/>
              </a:rPr>
              <a:t>   *&gt; 5 digits + 2 exact decimals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780"/>
              </a:lnSpc>
              <a:spcAft>
                <a:spcPts val="201"/>
              </a:spcAft>
            </a:pPr>
            <a:endParaRPr b="0" lang="fr-FR" sz="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950"/>
              </a:lnSpc>
              <a:spcAft>
                <a:spcPts val="201"/>
              </a:spcAft>
            </a:pPr>
            <a:r>
              <a:rPr b="1" lang="en-US" sz="15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0.1 + 0.2 = 0.30</a:t>
            </a:r>
            <a:endParaRPr b="0" lang="fr-F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950"/>
              </a:lnSpc>
              <a:spcAft>
                <a:spcPts val="201"/>
              </a:spcAft>
            </a:pPr>
            <a:r>
              <a:rPr b="1" lang="en-US" sz="15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1.1 * 1.1 = 1.21</a:t>
            </a:r>
            <a:endParaRPr b="0" lang="fr-F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950"/>
              </a:lnSpc>
              <a:spcAft>
                <a:spcPts val="201"/>
              </a:spcAft>
            </a:pPr>
            <a:r>
              <a:rPr b="1" lang="en-US" sz="15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0.3 - 0.1 = 0.20</a:t>
            </a:r>
            <a:endParaRPr b="0" lang="fr-F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780"/>
              </a:lnSpc>
              <a:spcAft>
                <a:spcPts val="201"/>
              </a:spcAft>
            </a:pPr>
            <a:endParaRPr b="0" lang="fr-FR" sz="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689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8888a0"/>
                </a:solidFill>
                <a:effectLst/>
                <a:uFillTx/>
                <a:latin typeface="Consolas"/>
              </a:rPr>
              <a:t>*&gt; Fixed-point. Always exact.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11"/>
          <p:cNvSpPr/>
          <p:nvPr/>
        </p:nvSpPr>
        <p:spPr>
          <a:xfrm>
            <a:off x="10972800" y="6400800"/>
            <a:ext cx="7311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r" defTabSz="457200">
              <a:lnSpc>
                <a:spcPts val="1199"/>
              </a:lnSpc>
            </a:pPr>
            <a:r>
              <a:rPr b="0" lang="en-US" sz="1000" strike="noStrike" u="none">
                <a:solidFill>
                  <a:srgbClr val="8888a0"/>
                </a:solidFill>
                <a:effectLst/>
                <a:uFillTx/>
                <a:latin typeface="Consolas"/>
              </a:rPr>
              <a:t>04 / 14</a:t>
            </a:r>
            <a:endParaRPr b="0" lang="fr-F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1"/>
          <p:cNvSpPr/>
          <p:nvPr/>
        </p:nvSpPr>
        <p:spPr>
          <a:xfrm>
            <a:off x="731520" y="457200"/>
            <a:ext cx="365724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b="1" lang="en-US" sz="12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PROJECT DESCRIPTION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2"/>
          <p:cNvSpPr/>
          <p:nvPr/>
        </p:nvSpPr>
        <p:spPr>
          <a:xfrm>
            <a:off x="731520" y="822960"/>
            <a:ext cx="449748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COBILL — The </a:t>
            </a:r>
            <a:r>
              <a:rPr b="1" lang="en-US" sz="36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Solution</a:t>
            </a:r>
            <a:endParaRPr b="0" lang="fr-F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3"/>
          <p:cNvSpPr/>
          <p:nvPr/>
        </p:nvSpPr>
        <p:spPr>
          <a:xfrm>
            <a:off x="731520" y="1645920"/>
            <a:ext cx="1005804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2801"/>
              </a:lnSpc>
            </a:pPr>
            <a:r>
              <a:rPr b="0" lang="en-US" sz="2000" strike="noStrike" u="none">
                <a:solidFill>
                  <a:srgbClr val="e0e0ef"/>
                </a:solidFill>
                <a:effectLst/>
                <a:uFillTx/>
                <a:latin typeface="Calibri"/>
              </a:rPr>
              <a:t>A web-based invoicing app for French freelancers, built with the two</a:t>
            </a:r>
            <a:br>
              <a:rPr sz="2000"/>
            </a:br>
            <a:r>
              <a:rPr b="0" lang="en-US" sz="2000" strike="noStrike" u="none">
                <a:solidFill>
                  <a:srgbClr val="e0e0ef"/>
                </a:solidFill>
                <a:effectLst/>
                <a:uFillTx/>
                <a:latin typeface="Calibri"/>
              </a:rPr>
              <a:t>most reliable technologies for the job:</a:t>
            </a:r>
            <a:endParaRPr b="0" lang="fr-F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Rounded Rectangle 4"/>
          <p:cNvSpPr/>
          <p:nvPr/>
        </p:nvSpPr>
        <p:spPr>
          <a:xfrm>
            <a:off x="731520" y="2743200"/>
            <a:ext cx="3382920" cy="2925720"/>
          </a:xfrm>
          <a:prstGeom prst="roundRect">
            <a:avLst>
              <a:gd name="adj" fmla="val 16667"/>
            </a:avLst>
          </a:prstGeom>
          <a:solidFill>
            <a:srgbClr val="1819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Rectangle 5"/>
          <p:cNvSpPr/>
          <p:nvPr/>
        </p:nvSpPr>
        <p:spPr>
          <a:xfrm>
            <a:off x="731520" y="2743200"/>
            <a:ext cx="3382920" cy="36360"/>
          </a:xfrm>
          <a:prstGeom prst="rect">
            <a:avLst/>
          </a:prstGeom>
          <a:solidFill>
            <a:srgbClr val="33ff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6"/>
          <p:cNvSpPr/>
          <p:nvPr/>
        </p:nvSpPr>
        <p:spPr>
          <a:xfrm>
            <a:off x="1005840" y="2926080"/>
            <a:ext cx="292572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681"/>
              </a:lnSpc>
            </a:pPr>
            <a:r>
              <a:rPr b="1" lang="en-US" sz="14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COBOL  (1959)</a:t>
            </a:r>
            <a:endParaRPr b="0" lang="fr-F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7"/>
          <p:cNvSpPr/>
          <p:nvPr/>
        </p:nvSpPr>
        <p:spPr>
          <a:xfrm>
            <a:off x="1005840" y="3383280"/>
            <a:ext cx="2834280" cy="20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950"/>
              </a:lnSpc>
            </a:pPr>
            <a:r>
              <a:rPr b="0" lang="en-US" sz="13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The language of banks.</a:t>
            </a:r>
            <a:br>
              <a:rPr sz="1300"/>
            </a:br>
            <a:r>
              <a:rPr b="0" lang="en-US" sz="13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Handles all financial calculations</a:t>
            </a:r>
            <a:br>
              <a:rPr sz="1300"/>
            </a:br>
            <a:r>
              <a:rPr b="0" lang="en-US" sz="13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with native decimal arithmetic.</a:t>
            </a:r>
            <a:br>
              <a:rPr sz="1300"/>
            </a:br>
            <a:r>
              <a:rPr b="0" lang="en-US" sz="13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Zero rounding errors.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8"/>
          <p:cNvSpPr/>
          <p:nvPr/>
        </p:nvSpPr>
        <p:spPr>
          <a:xfrm>
            <a:off x="4480560" y="2743200"/>
            <a:ext cx="3382920" cy="2925720"/>
          </a:xfrm>
          <a:prstGeom prst="roundRect">
            <a:avLst>
              <a:gd name="adj" fmla="val 16667"/>
            </a:avLst>
          </a:prstGeom>
          <a:solidFill>
            <a:srgbClr val="1819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Rectangle 9"/>
          <p:cNvSpPr/>
          <p:nvPr/>
        </p:nvSpPr>
        <p:spPr>
          <a:xfrm>
            <a:off x="4480560" y="2743200"/>
            <a:ext cx="3382920" cy="36360"/>
          </a:xfrm>
          <a:prstGeom prst="rect">
            <a:avLst/>
          </a:prstGeom>
          <a:solidFill>
            <a:srgbClr val="4da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10"/>
          <p:cNvSpPr/>
          <p:nvPr/>
        </p:nvSpPr>
        <p:spPr>
          <a:xfrm>
            <a:off x="4754880" y="2926080"/>
            <a:ext cx="292572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681"/>
              </a:lnSpc>
            </a:pPr>
            <a:r>
              <a:rPr b="1" lang="en-US" sz="1400" strike="noStrike" u="none">
                <a:solidFill>
                  <a:srgbClr val="4da6ff"/>
                </a:solidFill>
                <a:effectLst/>
                <a:uFillTx/>
                <a:latin typeface="Consolas"/>
              </a:rPr>
              <a:t>PostScript  (1985)</a:t>
            </a:r>
            <a:endParaRPr b="0" lang="fr-F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11"/>
          <p:cNvSpPr/>
          <p:nvPr/>
        </p:nvSpPr>
        <p:spPr>
          <a:xfrm>
            <a:off x="4754880" y="3383280"/>
            <a:ext cx="2834280" cy="20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950"/>
              </a:lnSpc>
            </a:pPr>
            <a:r>
              <a:rPr b="0" lang="en-US" sz="13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The language of printers.</a:t>
            </a:r>
            <a:br>
              <a:rPr sz="1300"/>
            </a:br>
            <a:r>
              <a:rPr b="0" lang="en-US" sz="13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Generates pixel-perfect PDF invoices.</a:t>
            </a:r>
            <a:br>
              <a:rPr sz="1300"/>
            </a:br>
            <a:r>
              <a:rPr b="0" lang="en-US" sz="13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No library. No dependency.</a:t>
            </a:r>
            <a:br>
              <a:rPr sz="1300"/>
            </a:br>
            <a:r>
              <a:rPr b="0" lang="en-US" sz="13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Just raw PostScript.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Rounded Rectangle 12"/>
          <p:cNvSpPr/>
          <p:nvPr/>
        </p:nvSpPr>
        <p:spPr>
          <a:xfrm>
            <a:off x="8229600" y="2743200"/>
            <a:ext cx="3382920" cy="2925720"/>
          </a:xfrm>
          <a:prstGeom prst="roundRect">
            <a:avLst>
              <a:gd name="adj" fmla="val 16667"/>
            </a:avLst>
          </a:prstGeom>
          <a:solidFill>
            <a:srgbClr val="1819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Rectangle 13"/>
          <p:cNvSpPr/>
          <p:nvPr/>
        </p:nvSpPr>
        <p:spPr>
          <a:xfrm>
            <a:off x="8229600" y="2743200"/>
            <a:ext cx="3382920" cy="3636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14"/>
          <p:cNvSpPr/>
          <p:nvPr/>
        </p:nvSpPr>
        <p:spPr>
          <a:xfrm>
            <a:off x="8503920" y="2926080"/>
            <a:ext cx="292572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681"/>
              </a:lnSpc>
            </a:pPr>
            <a:r>
              <a:rPr b="1" lang="en-US" sz="1400" strike="noStrike" u="none">
                <a:solidFill>
                  <a:srgbClr val="a78bfa"/>
                </a:solidFill>
                <a:effectLst/>
                <a:uFillTx/>
                <a:latin typeface="Consolas"/>
              </a:rPr>
              <a:t>HTMX  (2020)</a:t>
            </a:r>
            <a:endParaRPr b="0" lang="fr-F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15"/>
          <p:cNvSpPr/>
          <p:nvPr/>
        </p:nvSpPr>
        <p:spPr>
          <a:xfrm>
            <a:off x="8503920" y="3383280"/>
            <a:ext cx="2834280" cy="20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950"/>
              </a:lnSpc>
            </a:pPr>
            <a:r>
              <a:rPr b="0" lang="en-US" sz="13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Dynamic UI with 14 KB of JS.</a:t>
            </a:r>
            <a:br>
              <a:rPr sz="1300"/>
            </a:br>
            <a:r>
              <a:rPr b="0" lang="en-US" sz="13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No React. No Vue. No npm.</a:t>
            </a:r>
            <a:br>
              <a:rPr sz="1300"/>
            </a:br>
            <a:r>
              <a:rPr b="0" lang="en-US" sz="13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Zero build step.</a:t>
            </a:r>
            <a:br>
              <a:rPr sz="1300"/>
            </a:br>
            <a:r>
              <a:rPr b="0" lang="en-US" sz="13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Just HTML attributes.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16"/>
          <p:cNvSpPr/>
          <p:nvPr/>
        </p:nvSpPr>
        <p:spPr>
          <a:xfrm>
            <a:off x="731520" y="5943600"/>
            <a:ext cx="100580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800"/>
              </a:lnSpc>
            </a:pPr>
            <a:r>
              <a:rPr b="0" lang="en-US" sz="15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"Your bank runs on COBOL. Your printer runs on PostScript. Your invoicing app should too."</a:t>
            </a:r>
            <a:endParaRPr b="0" lang="fr-F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17"/>
          <p:cNvSpPr/>
          <p:nvPr/>
        </p:nvSpPr>
        <p:spPr>
          <a:xfrm>
            <a:off x="10972800" y="6400800"/>
            <a:ext cx="7311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r" defTabSz="457200">
              <a:lnSpc>
                <a:spcPts val="1199"/>
              </a:lnSpc>
            </a:pPr>
            <a:r>
              <a:rPr b="0" lang="en-US" sz="1000" strike="noStrike" u="none">
                <a:solidFill>
                  <a:srgbClr val="8888a0"/>
                </a:solidFill>
                <a:effectLst/>
                <a:uFillTx/>
                <a:latin typeface="Consolas"/>
              </a:rPr>
              <a:t>05 / 14</a:t>
            </a:r>
            <a:endParaRPr b="0" lang="fr-F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1"/>
          <p:cNvSpPr/>
          <p:nvPr/>
        </p:nvSpPr>
        <p:spPr>
          <a:xfrm>
            <a:off x="731520" y="457200"/>
            <a:ext cx="365724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b="1" lang="en-US" sz="12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TECHNOLOGIES USED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2"/>
          <p:cNvSpPr/>
          <p:nvPr/>
        </p:nvSpPr>
        <p:spPr>
          <a:xfrm>
            <a:off x="731520" y="822960"/>
            <a:ext cx="19926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The </a:t>
            </a:r>
            <a:r>
              <a:rPr b="1" lang="en-US" sz="36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Stack</a:t>
            </a:r>
            <a:endParaRPr b="0" lang="fr-F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Rounded Rectangle 3"/>
          <p:cNvSpPr/>
          <p:nvPr/>
        </p:nvSpPr>
        <p:spPr>
          <a:xfrm>
            <a:off x="731520" y="1828800"/>
            <a:ext cx="6583320" cy="4114440"/>
          </a:xfrm>
          <a:prstGeom prst="roundRect">
            <a:avLst>
              <a:gd name="adj" fmla="val 16667"/>
            </a:avLst>
          </a:prstGeom>
          <a:solidFill>
            <a:srgbClr val="1819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4"/>
          <p:cNvSpPr/>
          <p:nvPr/>
        </p:nvSpPr>
        <p:spPr>
          <a:xfrm>
            <a:off x="1005840" y="1920240"/>
            <a:ext cx="228564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321"/>
              </a:lnSpc>
            </a:pPr>
            <a:r>
              <a:rPr b="1" lang="en-US" sz="11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LAYER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5"/>
          <p:cNvSpPr/>
          <p:nvPr/>
        </p:nvSpPr>
        <p:spPr>
          <a:xfrm>
            <a:off x="3200400" y="1920240"/>
            <a:ext cx="29257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321"/>
              </a:lnSpc>
            </a:pPr>
            <a:r>
              <a:rPr b="1" lang="en-US" sz="11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TECHNOLOGY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6"/>
          <p:cNvSpPr/>
          <p:nvPr/>
        </p:nvSpPr>
        <p:spPr>
          <a:xfrm>
            <a:off x="6217920" y="1920240"/>
            <a:ext cx="91404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321"/>
              </a:lnSpc>
            </a:pPr>
            <a:r>
              <a:rPr b="1" lang="en-US" sz="11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YEAR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7"/>
          <p:cNvSpPr/>
          <p:nvPr/>
        </p:nvSpPr>
        <p:spPr>
          <a:xfrm>
            <a:off x="1005840" y="2423160"/>
            <a:ext cx="219420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681"/>
              </a:lnSpc>
            </a:pPr>
            <a:r>
              <a:rPr b="0" lang="en-US" sz="1400" strike="noStrike" u="none">
                <a:solidFill>
                  <a:srgbClr val="e0e0ef"/>
                </a:solidFill>
                <a:effectLst/>
                <a:uFillTx/>
                <a:latin typeface="Calibri"/>
              </a:rPr>
              <a:t>Financial Engine</a:t>
            </a:r>
            <a:endParaRPr b="0" lang="fr-F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8"/>
          <p:cNvSpPr/>
          <p:nvPr/>
        </p:nvSpPr>
        <p:spPr>
          <a:xfrm>
            <a:off x="3200400" y="2423160"/>
            <a:ext cx="29257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681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onsolas"/>
              </a:rPr>
              <a:t>GnuCOBOL 3.x</a:t>
            </a:r>
            <a:endParaRPr b="0" lang="fr-F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9"/>
          <p:cNvSpPr/>
          <p:nvPr/>
        </p:nvSpPr>
        <p:spPr>
          <a:xfrm>
            <a:off x="6217920" y="2423160"/>
            <a:ext cx="91404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681"/>
              </a:lnSpc>
            </a:pPr>
            <a:r>
              <a:rPr b="0" lang="en-US" sz="14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1959</a:t>
            </a:r>
            <a:endParaRPr b="0" lang="fr-F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0"/>
          <p:cNvSpPr/>
          <p:nvPr/>
        </p:nvSpPr>
        <p:spPr>
          <a:xfrm>
            <a:off x="1005840" y="2971800"/>
            <a:ext cx="219420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681"/>
              </a:lnSpc>
            </a:pPr>
            <a:r>
              <a:rPr b="0" lang="en-US" sz="1400" strike="noStrike" u="none">
                <a:solidFill>
                  <a:srgbClr val="e0e0ef"/>
                </a:solidFill>
                <a:effectLst/>
                <a:uFillTx/>
                <a:latin typeface="Calibri"/>
              </a:rPr>
              <a:t>PDF Generation</a:t>
            </a:r>
            <a:endParaRPr b="0" lang="fr-F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11"/>
          <p:cNvSpPr/>
          <p:nvPr/>
        </p:nvSpPr>
        <p:spPr>
          <a:xfrm>
            <a:off x="3200400" y="2971800"/>
            <a:ext cx="29257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681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onsolas"/>
              </a:rPr>
              <a:t>PostScript + Ghostscript</a:t>
            </a:r>
            <a:endParaRPr b="0" lang="fr-F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12"/>
          <p:cNvSpPr/>
          <p:nvPr/>
        </p:nvSpPr>
        <p:spPr>
          <a:xfrm>
            <a:off x="6217920" y="2971800"/>
            <a:ext cx="91404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681"/>
              </a:lnSpc>
            </a:pPr>
            <a:r>
              <a:rPr b="0" lang="en-US" sz="14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1985</a:t>
            </a:r>
            <a:endParaRPr b="0" lang="fr-F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13"/>
          <p:cNvSpPr/>
          <p:nvPr/>
        </p:nvSpPr>
        <p:spPr>
          <a:xfrm>
            <a:off x="1005840" y="3520440"/>
            <a:ext cx="219420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681"/>
              </a:lnSpc>
            </a:pPr>
            <a:r>
              <a:rPr b="0" lang="en-US" sz="1400" strike="noStrike" u="none">
                <a:solidFill>
                  <a:srgbClr val="e0e0ef"/>
                </a:solidFill>
                <a:effectLst/>
                <a:uFillTx/>
                <a:latin typeface="Calibri"/>
              </a:rPr>
              <a:t>Web Server</a:t>
            </a:r>
            <a:endParaRPr b="0" lang="fr-F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14"/>
          <p:cNvSpPr/>
          <p:nvPr/>
        </p:nvSpPr>
        <p:spPr>
          <a:xfrm>
            <a:off x="3200400" y="3520440"/>
            <a:ext cx="29257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681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onsolas"/>
              </a:rPr>
              <a:t>Apache 2.4 + mod_cgi</a:t>
            </a:r>
            <a:endParaRPr b="0" lang="fr-F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15"/>
          <p:cNvSpPr/>
          <p:nvPr/>
        </p:nvSpPr>
        <p:spPr>
          <a:xfrm>
            <a:off x="6217920" y="3520440"/>
            <a:ext cx="91404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681"/>
              </a:lnSpc>
            </a:pPr>
            <a:r>
              <a:rPr b="0" lang="en-US" sz="14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1995</a:t>
            </a:r>
            <a:endParaRPr b="0" lang="fr-F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16"/>
          <p:cNvSpPr/>
          <p:nvPr/>
        </p:nvSpPr>
        <p:spPr>
          <a:xfrm>
            <a:off x="1005840" y="4069080"/>
            <a:ext cx="219420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681"/>
              </a:lnSpc>
            </a:pPr>
            <a:r>
              <a:rPr b="0" lang="en-US" sz="1400" strike="noStrike" u="none">
                <a:solidFill>
                  <a:srgbClr val="e0e0ef"/>
                </a:solidFill>
                <a:effectLst/>
                <a:uFillTx/>
                <a:latin typeface="Calibri"/>
              </a:rPr>
              <a:t>Frontend</a:t>
            </a:r>
            <a:endParaRPr b="0" lang="fr-F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17"/>
          <p:cNvSpPr/>
          <p:nvPr/>
        </p:nvSpPr>
        <p:spPr>
          <a:xfrm>
            <a:off x="3200400" y="4069080"/>
            <a:ext cx="29257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681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onsolas"/>
              </a:rPr>
              <a:t>HTML5 + HTMX 2.x + CSS3</a:t>
            </a:r>
            <a:endParaRPr b="0" lang="fr-F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18"/>
          <p:cNvSpPr/>
          <p:nvPr/>
        </p:nvSpPr>
        <p:spPr>
          <a:xfrm>
            <a:off x="6217920" y="4069080"/>
            <a:ext cx="91404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681"/>
              </a:lnSpc>
            </a:pPr>
            <a:r>
              <a:rPr b="0" lang="en-US" sz="14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2020</a:t>
            </a:r>
            <a:endParaRPr b="0" lang="fr-F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19"/>
          <p:cNvSpPr/>
          <p:nvPr/>
        </p:nvSpPr>
        <p:spPr>
          <a:xfrm>
            <a:off x="1005840" y="4617720"/>
            <a:ext cx="219420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681"/>
              </a:lnSpc>
            </a:pPr>
            <a:r>
              <a:rPr b="0" lang="en-US" sz="1400" strike="noStrike" u="none">
                <a:solidFill>
                  <a:srgbClr val="e0e0ef"/>
                </a:solidFill>
                <a:effectLst/>
                <a:uFillTx/>
                <a:latin typeface="Calibri"/>
              </a:rPr>
              <a:t>Data Storage</a:t>
            </a:r>
            <a:endParaRPr b="0" lang="fr-F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20"/>
          <p:cNvSpPr/>
          <p:nvPr/>
        </p:nvSpPr>
        <p:spPr>
          <a:xfrm>
            <a:off x="3200400" y="4617720"/>
            <a:ext cx="29257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681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onsolas"/>
              </a:rPr>
              <a:t>COBOL ISAM files</a:t>
            </a:r>
            <a:endParaRPr b="0" lang="fr-F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21"/>
          <p:cNvSpPr/>
          <p:nvPr/>
        </p:nvSpPr>
        <p:spPr>
          <a:xfrm>
            <a:off x="6217920" y="4617720"/>
            <a:ext cx="91404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681"/>
              </a:lnSpc>
            </a:pPr>
            <a:r>
              <a:rPr b="0" lang="en-US" sz="14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1959</a:t>
            </a:r>
            <a:endParaRPr b="0" lang="fr-F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22"/>
          <p:cNvSpPr/>
          <p:nvPr/>
        </p:nvSpPr>
        <p:spPr>
          <a:xfrm>
            <a:off x="1005840" y="5166360"/>
            <a:ext cx="219420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681"/>
              </a:lnSpc>
            </a:pPr>
            <a:r>
              <a:rPr b="0" lang="en-US" sz="1400" strike="noStrike" u="none">
                <a:solidFill>
                  <a:srgbClr val="e0e0ef"/>
                </a:solidFill>
                <a:effectLst/>
                <a:uFillTx/>
                <a:latin typeface="Calibri"/>
              </a:rPr>
              <a:t>Hosting</a:t>
            </a:r>
            <a:endParaRPr b="0" lang="fr-F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23"/>
          <p:cNvSpPr/>
          <p:nvPr/>
        </p:nvSpPr>
        <p:spPr>
          <a:xfrm>
            <a:off x="3200400" y="5166360"/>
            <a:ext cx="29257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681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onsolas"/>
              </a:rPr>
              <a:t>AWS EC2 (t3.micro)</a:t>
            </a:r>
            <a:endParaRPr b="0" lang="fr-F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24"/>
          <p:cNvSpPr/>
          <p:nvPr/>
        </p:nvSpPr>
        <p:spPr>
          <a:xfrm>
            <a:off x="6217920" y="5166360"/>
            <a:ext cx="91404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681"/>
              </a:lnSpc>
            </a:pPr>
            <a:r>
              <a:rPr b="0" lang="en-US" sz="14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2006</a:t>
            </a:r>
            <a:endParaRPr b="0" lang="fr-F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Rounded Rectangle 25"/>
          <p:cNvSpPr/>
          <p:nvPr/>
        </p:nvSpPr>
        <p:spPr>
          <a:xfrm>
            <a:off x="8046720" y="2011680"/>
            <a:ext cx="3382920" cy="868320"/>
          </a:xfrm>
          <a:prstGeom prst="roundRect">
            <a:avLst>
              <a:gd name="adj" fmla="val 16667"/>
            </a:avLst>
          </a:prstGeom>
          <a:solidFill>
            <a:srgbClr val="1819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26"/>
          <p:cNvSpPr/>
          <p:nvPr/>
        </p:nvSpPr>
        <p:spPr>
          <a:xfrm>
            <a:off x="8595360" y="2057400"/>
            <a:ext cx="228564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4320"/>
              </a:lnSpc>
            </a:pPr>
            <a:r>
              <a:rPr b="1" lang="en-US" sz="36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14 KB</a:t>
            </a:r>
            <a:endParaRPr b="0" lang="fr-F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27"/>
          <p:cNvSpPr/>
          <p:nvPr/>
        </p:nvSpPr>
        <p:spPr>
          <a:xfrm>
            <a:off x="8595360" y="2651760"/>
            <a:ext cx="22856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321"/>
              </a:lnSpc>
            </a:pP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Total JavaScript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Rounded Rectangle 28"/>
          <p:cNvSpPr/>
          <p:nvPr/>
        </p:nvSpPr>
        <p:spPr>
          <a:xfrm>
            <a:off x="8046720" y="3063240"/>
            <a:ext cx="3382920" cy="868320"/>
          </a:xfrm>
          <a:prstGeom prst="roundRect">
            <a:avLst>
              <a:gd name="adj" fmla="val 16667"/>
            </a:avLst>
          </a:prstGeom>
          <a:solidFill>
            <a:srgbClr val="1819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Box 29"/>
          <p:cNvSpPr/>
          <p:nvPr/>
        </p:nvSpPr>
        <p:spPr>
          <a:xfrm>
            <a:off x="8595360" y="3108960"/>
            <a:ext cx="228564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4320"/>
              </a:lnSpc>
            </a:pPr>
            <a:r>
              <a:rPr b="1" lang="en-US" sz="36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0</a:t>
            </a:r>
            <a:endParaRPr b="0" lang="fr-F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30"/>
          <p:cNvSpPr/>
          <p:nvPr/>
        </p:nvSpPr>
        <p:spPr>
          <a:xfrm>
            <a:off x="8595360" y="3703320"/>
            <a:ext cx="22856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321"/>
              </a:lnSpc>
            </a:pP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npm packages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Rounded Rectangle 31"/>
          <p:cNvSpPr/>
          <p:nvPr/>
        </p:nvSpPr>
        <p:spPr>
          <a:xfrm>
            <a:off x="8046720" y="4114800"/>
            <a:ext cx="3382920" cy="868320"/>
          </a:xfrm>
          <a:prstGeom prst="roundRect">
            <a:avLst>
              <a:gd name="adj" fmla="val 16667"/>
            </a:avLst>
          </a:prstGeom>
          <a:solidFill>
            <a:srgbClr val="1819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32"/>
          <p:cNvSpPr/>
          <p:nvPr/>
        </p:nvSpPr>
        <p:spPr>
          <a:xfrm>
            <a:off x="8595360" y="4160520"/>
            <a:ext cx="228564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4320"/>
              </a:lnSpc>
            </a:pPr>
            <a:r>
              <a:rPr b="1" lang="en-US" sz="3600" strike="noStrike" u="none">
                <a:solidFill>
                  <a:srgbClr val="4da6ff"/>
                </a:solidFill>
                <a:effectLst/>
                <a:uFillTx/>
                <a:latin typeface="Calibri"/>
              </a:rPr>
              <a:t>0</a:t>
            </a:r>
            <a:endParaRPr b="0" lang="fr-F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33"/>
          <p:cNvSpPr/>
          <p:nvPr/>
        </p:nvSpPr>
        <p:spPr>
          <a:xfrm>
            <a:off x="8595360" y="4754880"/>
            <a:ext cx="22856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321"/>
              </a:lnSpc>
            </a:pP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External APIs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Rounded Rectangle 34"/>
          <p:cNvSpPr/>
          <p:nvPr/>
        </p:nvSpPr>
        <p:spPr>
          <a:xfrm>
            <a:off x="8046720" y="5166360"/>
            <a:ext cx="3382920" cy="868320"/>
          </a:xfrm>
          <a:prstGeom prst="roundRect">
            <a:avLst>
              <a:gd name="adj" fmla="val 16667"/>
            </a:avLst>
          </a:prstGeom>
          <a:solidFill>
            <a:srgbClr val="1819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Box 35"/>
          <p:cNvSpPr/>
          <p:nvPr/>
        </p:nvSpPr>
        <p:spPr>
          <a:xfrm>
            <a:off x="8595360" y="5212080"/>
            <a:ext cx="228564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4320"/>
              </a:lnSpc>
            </a:pPr>
            <a:r>
              <a:rPr b="1" lang="en-US" sz="3600" strike="noStrike" u="none">
                <a:solidFill>
                  <a:srgbClr val="a78bfa"/>
                </a:solidFill>
                <a:effectLst/>
                <a:uFillTx/>
                <a:latin typeface="Calibri"/>
              </a:rPr>
              <a:t>~$2</a:t>
            </a:r>
            <a:endParaRPr b="0" lang="fr-F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36"/>
          <p:cNvSpPr/>
          <p:nvPr/>
        </p:nvSpPr>
        <p:spPr>
          <a:xfrm>
            <a:off x="8595360" y="5806440"/>
            <a:ext cx="22856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321"/>
              </a:lnSpc>
            </a:pP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/month (Free Tier)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37"/>
          <p:cNvSpPr/>
          <p:nvPr/>
        </p:nvSpPr>
        <p:spPr>
          <a:xfrm>
            <a:off x="10972800" y="6400800"/>
            <a:ext cx="7311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r" defTabSz="457200">
              <a:lnSpc>
                <a:spcPts val="1199"/>
              </a:lnSpc>
            </a:pPr>
            <a:r>
              <a:rPr b="0" lang="en-US" sz="1000" strike="noStrike" u="none">
                <a:solidFill>
                  <a:srgbClr val="8888a0"/>
                </a:solidFill>
                <a:effectLst/>
                <a:uFillTx/>
                <a:latin typeface="Consolas"/>
              </a:rPr>
              <a:t>06 / 14</a:t>
            </a:r>
            <a:endParaRPr b="0" lang="fr-F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Box 1"/>
          <p:cNvSpPr/>
          <p:nvPr/>
        </p:nvSpPr>
        <p:spPr>
          <a:xfrm>
            <a:off x="731520" y="457200"/>
            <a:ext cx="365724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b="1" lang="en-US" sz="12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ARCHITECTURE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2"/>
          <p:cNvSpPr/>
          <p:nvPr/>
        </p:nvSpPr>
        <p:spPr>
          <a:xfrm>
            <a:off x="731520" y="822960"/>
            <a:ext cx="274464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How It </a:t>
            </a:r>
            <a:r>
              <a:rPr b="1" lang="en-US" sz="36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Works</a:t>
            </a:r>
            <a:endParaRPr b="0" lang="fr-F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Rounded Rectangle 3"/>
          <p:cNvSpPr/>
          <p:nvPr/>
        </p:nvSpPr>
        <p:spPr>
          <a:xfrm>
            <a:off x="731520" y="1828800"/>
            <a:ext cx="7131960" cy="4388760"/>
          </a:xfrm>
          <a:prstGeom prst="roundRect">
            <a:avLst>
              <a:gd name="adj" fmla="val 16667"/>
            </a:avLst>
          </a:prstGeom>
          <a:solidFill>
            <a:srgbClr val="0a0a0a"/>
          </a:solidFill>
          <a:ln w="12700">
            <a:solidFill>
              <a:srgbClr val="1a8c1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4"/>
          <p:cNvSpPr/>
          <p:nvPr/>
        </p:nvSpPr>
        <p:spPr>
          <a:xfrm>
            <a:off x="1005840" y="2011680"/>
            <a:ext cx="6766200" cy="40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151"/>
              </a:lnSpc>
            </a:pPr>
            <a:r>
              <a:rPr b="0" lang="en-US" sz="10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 BROWSER                    AWS EC2 (Ubuntu)</a:t>
            </a:r>
            <a:br>
              <a:rPr sz="1000"/>
            </a:br>
            <a:r>
              <a:rPr b="0" lang="en-US" sz="10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+-----------+              +---------------------------+</a:t>
            </a:r>
            <a:br>
              <a:rPr sz="1000"/>
            </a:br>
            <a:r>
              <a:rPr b="0" lang="en-US" sz="10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| HTML+HTMX |  HTTP       | Apache 2.4 + mod_cgi      |</a:t>
            </a:r>
            <a:br>
              <a:rPr sz="1000"/>
            </a:br>
            <a:r>
              <a:rPr b="0" lang="en-US" sz="10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| + CSS     | ----------&gt; |                            |</a:t>
            </a:r>
            <a:br>
              <a:rPr sz="1000"/>
            </a:br>
            <a:r>
              <a:rPr b="0" lang="en-US" sz="10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| (14 KB)   | &lt;-- HTML    |   +---------------------+ |</a:t>
            </a:r>
            <a:br>
              <a:rPr sz="1000"/>
            </a:br>
            <a:r>
              <a:rPr b="0" lang="en-US" sz="10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+-----------+             |   | COBOL PROGRAMS       | |</a:t>
            </a:r>
            <a:br>
              <a:rPr sz="1000"/>
            </a:br>
            <a:r>
              <a:rPr b="0" lang="en-US" sz="10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                          |   |                      | |</a:t>
            </a:r>
            <a:br>
              <a:rPr sz="1000"/>
            </a:br>
            <a:r>
              <a:rPr b="0" lang="en-US" sz="10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                          |   | invoice.cob          | |</a:t>
            </a:r>
            <a:br>
              <a:rPr sz="1000"/>
            </a:br>
            <a:r>
              <a:rPr b="0" lang="en-US" sz="10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                          |   |  &gt; PIC 9(5)V99       | |</a:t>
            </a:r>
            <a:br>
              <a:rPr sz="1000"/>
            </a:br>
            <a:r>
              <a:rPr b="0" lang="en-US" sz="10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                          |   |  &gt; HT / TVA / TTC    | |</a:t>
            </a:r>
            <a:br>
              <a:rPr sz="1000"/>
            </a:br>
            <a:r>
              <a:rPr b="0" lang="en-US" sz="10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                          |   |                      | |</a:t>
            </a:r>
            <a:br>
              <a:rPr sz="1000"/>
            </a:br>
            <a:r>
              <a:rPr b="0" lang="en-US" sz="10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                          |   | pdf-gen.cob          | |</a:t>
            </a:r>
            <a:br>
              <a:rPr sz="1000"/>
            </a:br>
            <a:r>
              <a:rPr b="0" lang="en-US" sz="10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                          |   |  &gt; Write .ps file    | |</a:t>
            </a:r>
            <a:br>
              <a:rPr sz="1000"/>
            </a:br>
            <a:r>
              <a:rPr b="0" lang="en-US" sz="10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                          |   |  &gt; Call Ghostscript   | |</a:t>
            </a:r>
            <a:br>
              <a:rPr sz="1000"/>
            </a:br>
            <a:r>
              <a:rPr b="0" lang="en-US" sz="10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                          |   +---------------------+ |</a:t>
            </a:r>
            <a:br>
              <a:rPr sz="1000"/>
            </a:br>
            <a:r>
              <a:rPr b="0" lang="en-US" sz="10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                          |            |               |</a:t>
            </a:r>
            <a:br>
              <a:rPr sz="1000"/>
            </a:br>
            <a:r>
              <a:rPr b="0" lang="en-US" sz="10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                          |   +--------v----------+   |</a:t>
            </a:r>
            <a:br>
              <a:rPr sz="1000"/>
            </a:br>
            <a:r>
              <a:rPr b="0" lang="en-US" sz="10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                          |   | ISAM  |  PDF/     |   |</a:t>
            </a:r>
            <a:br>
              <a:rPr sz="1000"/>
            </a:br>
            <a:r>
              <a:rPr b="0" lang="en-US" sz="10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                          |   | .dat  |  .ps .pdf |   |</a:t>
            </a:r>
            <a:br>
              <a:rPr sz="1000"/>
            </a:br>
            <a:r>
              <a:rPr b="0" lang="en-US" sz="10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                          |   +-------+-----------+   |</a:t>
            </a:r>
            <a:br>
              <a:rPr sz="1000"/>
            </a:br>
            <a:r>
              <a:rPr b="0" lang="en-US" sz="10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                          +---------------------------+</a:t>
            </a:r>
            <a:endParaRPr b="0" lang="fr-F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5"/>
          <p:cNvSpPr/>
          <p:nvPr/>
        </p:nvSpPr>
        <p:spPr>
          <a:xfrm>
            <a:off x="8412480" y="1828800"/>
            <a:ext cx="32000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b="1" lang="en-US" sz="12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DATA FLOW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6"/>
          <p:cNvSpPr/>
          <p:nvPr/>
        </p:nvSpPr>
        <p:spPr>
          <a:xfrm>
            <a:off x="8412480" y="2286000"/>
            <a:ext cx="3200040" cy="411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2211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0e0ef"/>
                </a:solidFill>
                <a:effectLst/>
                <a:uFillTx/>
                <a:latin typeface="Calibri"/>
              </a:rPr>
              <a:t>1. User fills invoice form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2211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0e0ef"/>
                </a:solidFill>
                <a:effectLst/>
                <a:uFillTx/>
                <a:latin typeface="Calibri"/>
              </a:rPr>
              <a:t>2. HTMX sends POST to CGI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2211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0e0ef"/>
                </a:solidFill>
                <a:effectLst/>
                <a:uFillTx/>
                <a:latin typeface="Calibri"/>
              </a:rPr>
              <a:t>3. Apache invokes COBOL binary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2211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0e0ef"/>
                </a:solidFill>
                <a:effectLst/>
                <a:uFillTx/>
                <a:latin typeface="Calibri"/>
              </a:rPr>
              <a:t>4. COBOL computes exact totals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2211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0e0ef"/>
                </a:solidFill>
                <a:effectLst/>
                <a:uFillTx/>
                <a:latin typeface="Calibri"/>
              </a:rPr>
              <a:t>5. COBOL writes PostScript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2211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0e0ef"/>
                </a:solidFill>
                <a:effectLst/>
                <a:uFillTx/>
                <a:latin typeface="Calibri"/>
              </a:rPr>
              <a:t>6. Ghostscript converts to PDF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2211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0e0ef"/>
                </a:solidFill>
                <a:effectLst/>
                <a:uFillTx/>
                <a:latin typeface="Calibri"/>
              </a:rPr>
              <a:t>7. HTML fragment returned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2211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0e0ef"/>
                </a:solidFill>
                <a:effectLst/>
                <a:uFillTx/>
                <a:latin typeface="Calibri"/>
              </a:rPr>
              <a:t>8. HTMX injects — no reload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Rounded Rectangle 7"/>
          <p:cNvSpPr/>
          <p:nvPr/>
        </p:nvSpPr>
        <p:spPr>
          <a:xfrm>
            <a:off x="8412480" y="5303520"/>
            <a:ext cx="3200040" cy="822600"/>
          </a:xfrm>
          <a:prstGeom prst="roundRect">
            <a:avLst>
              <a:gd name="adj" fmla="val 16667"/>
            </a:avLst>
          </a:prstGeom>
          <a:solidFill>
            <a:srgbClr val="181924"/>
          </a:solidFill>
          <a:ln w="12700">
            <a:solidFill>
              <a:srgbClr val="1a8c1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8"/>
          <p:cNvSpPr/>
          <p:nvPr/>
        </p:nvSpPr>
        <p:spPr>
          <a:xfrm>
            <a:off x="8686800" y="5394960"/>
            <a:ext cx="274284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559"/>
              </a:lnSpc>
            </a:pPr>
            <a:r>
              <a:rPr b="0" lang="en-US" sz="12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No JSON. No API layer.</a:t>
            </a:r>
            <a:br>
              <a:rPr sz="1200"/>
            </a:br>
            <a:r>
              <a:rPr b="0" lang="en-US" sz="12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No virtual DOM.</a:t>
            </a:r>
            <a:br>
              <a:rPr sz="1200"/>
            </a:br>
            <a:r>
              <a:rPr b="0" lang="en-US" sz="12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The server renders HTML.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9"/>
          <p:cNvSpPr/>
          <p:nvPr/>
        </p:nvSpPr>
        <p:spPr>
          <a:xfrm>
            <a:off x="10972800" y="6400800"/>
            <a:ext cx="7311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r" defTabSz="457200">
              <a:lnSpc>
                <a:spcPts val="1199"/>
              </a:lnSpc>
            </a:pPr>
            <a:r>
              <a:rPr b="0" lang="en-US" sz="1000" strike="noStrike" u="none">
                <a:solidFill>
                  <a:srgbClr val="8888a0"/>
                </a:solidFill>
                <a:effectLst/>
                <a:uFillTx/>
                <a:latin typeface="Consolas"/>
              </a:rPr>
              <a:t>07 / 14</a:t>
            </a:r>
            <a:endParaRPr b="0" lang="fr-F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Box 1"/>
          <p:cNvSpPr/>
          <p:nvPr/>
        </p:nvSpPr>
        <p:spPr>
          <a:xfrm>
            <a:off x="731520" y="457200"/>
            <a:ext cx="365724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b="1" lang="en-US" sz="12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THIRD-PARTY SERVICES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2"/>
          <p:cNvSpPr/>
          <p:nvPr/>
        </p:nvSpPr>
        <p:spPr>
          <a:xfrm>
            <a:off x="731520" y="822960"/>
            <a:ext cx="45396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Minimal </a:t>
            </a:r>
            <a:r>
              <a:rPr b="1" lang="en-US" sz="36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Dependencies</a:t>
            </a:r>
            <a:endParaRPr b="0" lang="fr-F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Rounded Rectangle 3"/>
          <p:cNvSpPr/>
          <p:nvPr/>
        </p:nvSpPr>
        <p:spPr>
          <a:xfrm>
            <a:off x="731520" y="1828800"/>
            <a:ext cx="6583320" cy="4114440"/>
          </a:xfrm>
          <a:prstGeom prst="roundRect">
            <a:avLst>
              <a:gd name="adj" fmla="val 16667"/>
            </a:avLst>
          </a:prstGeom>
          <a:solidFill>
            <a:srgbClr val="1819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Box 4"/>
          <p:cNvSpPr/>
          <p:nvPr/>
        </p:nvSpPr>
        <p:spPr>
          <a:xfrm>
            <a:off x="1005840" y="1920240"/>
            <a:ext cx="228564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321"/>
              </a:lnSpc>
            </a:pPr>
            <a:r>
              <a:rPr b="1" lang="en-US" sz="11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SERVICE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5"/>
          <p:cNvSpPr/>
          <p:nvPr/>
        </p:nvSpPr>
        <p:spPr>
          <a:xfrm>
            <a:off x="3017520" y="1920240"/>
            <a:ext cx="274284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321"/>
              </a:lnSpc>
            </a:pPr>
            <a:r>
              <a:rPr b="1" lang="en-US" sz="11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PURPOSE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6"/>
          <p:cNvSpPr/>
          <p:nvPr/>
        </p:nvSpPr>
        <p:spPr>
          <a:xfrm>
            <a:off x="5943600" y="1920240"/>
            <a:ext cx="118836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321"/>
              </a:lnSpc>
            </a:pPr>
            <a:r>
              <a:rPr b="1" lang="en-US" sz="11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COST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7"/>
          <p:cNvSpPr/>
          <p:nvPr/>
        </p:nvSpPr>
        <p:spPr>
          <a:xfrm>
            <a:off x="1005840" y="2423160"/>
            <a:ext cx="20113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559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AWS EC2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8"/>
          <p:cNvSpPr/>
          <p:nvPr/>
        </p:nvSpPr>
        <p:spPr>
          <a:xfrm>
            <a:off x="3017520" y="2423160"/>
            <a:ext cx="274284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559"/>
              </a:lnSpc>
            </a:pPr>
            <a:r>
              <a:rPr b="0" lang="en-US" sz="13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Production server (t3.micro)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9"/>
          <p:cNvSpPr/>
          <p:nvPr/>
        </p:nvSpPr>
        <p:spPr>
          <a:xfrm>
            <a:off x="5943600" y="2423160"/>
            <a:ext cx="118836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r" defTabSz="457200">
              <a:lnSpc>
                <a:spcPts val="1559"/>
              </a:lnSpc>
            </a:pPr>
            <a:r>
              <a:rPr b="1" lang="en-US" sz="13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Free Tier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10"/>
          <p:cNvSpPr/>
          <p:nvPr/>
        </p:nvSpPr>
        <p:spPr>
          <a:xfrm>
            <a:off x="1005840" y="2953440"/>
            <a:ext cx="20113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559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AWS Route 53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11"/>
          <p:cNvSpPr/>
          <p:nvPr/>
        </p:nvSpPr>
        <p:spPr>
          <a:xfrm>
            <a:off x="3017520" y="2953440"/>
            <a:ext cx="274284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559"/>
              </a:lnSpc>
            </a:pPr>
            <a:r>
              <a:rPr b="0" lang="en-US" sz="13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DNS management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12"/>
          <p:cNvSpPr/>
          <p:nvPr/>
        </p:nvSpPr>
        <p:spPr>
          <a:xfrm>
            <a:off x="5943600" y="2953440"/>
            <a:ext cx="118836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r" defTabSz="457200">
              <a:lnSpc>
                <a:spcPts val="1559"/>
              </a:lnSpc>
            </a:pPr>
            <a:r>
              <a:rPr b="1" lang="en-US" sz="1300" strike="noStrike" u="none">
                <a:solidFill>
                  <a:srgbClr val="e0e0ef"/>
                </a:solidFill>
                <a:effectLst/>
                <a:uFillTx/>
                <a:latin typeface="Calibri"/>
              </a:rPr>
              <a:t>$0.50/mo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13"/>
          <p:cNvSpPr/>
          <p:nvPr/>
        </p:nvSpPr>
        <p:spPr>
          <a:xfrm>
            <a:off x="1005840" y="3483720"/>
            <a:ext cx="20113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559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AWS ACM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14"/>
          <p:cNvSpPr/>
          <p:nvPr/>
        </p:nvSpPr>
        <p:spPr>
          <a:xfrm>
            <a:off x="3017520" y="3483720"/>
            <a:ext cx="274284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559"/>
              </a:lnSpc>
            </a:pPr>
            <a:r>
              <a:rPr b="0" lang="en-US" sz="13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SSL/TLS certificate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15"/>
          <p:cNvSpPr/>
          <p:nvPr/>
        </p:nvSpPr>
        <p:spPr>
          <a:xfrm>
            <a:off x="5943600" y="3483720"/>
            <a:ext cx="118836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r" defTabSz="457200">
              <a:lnSpc>
                <a:spcPts val="1559"/>
              </a:lnSpc>
            </a:pPr>
            <a:r>
              <a:rPr b="1" lang="en-US" sz="13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Free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16"/>
          <p:cNvSpPr/>
          <p:nvPr/>
        </p:nvSpPr>
        <p:spPr>
          <a:xfrm>
            <a:off x="1005840" y="4014360"/>
            <a:ext cx="20113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559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GnuCOBOL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17"/>
          <p:cNvSpPr/>
          <p:nvPr/>
        </p:nvSpPr>
        <p:spPr>
          <a:xfrm>
            <a:off x="3017520" y="4014360"/>
            <a:ext cx="274284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559"/>
              </a:lnSpc>
            </a:pPr>
            <a:r>
              <a:rPr b="0" lang="en-US" sz="13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COBOL compiler (GPL)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18"/>
          <p:cNvSpPr/>
          <p:nvPr/>
        </p:nvSpPr>
        <p:spPr>
          <a:xfrm>
            <a:off x="5943600" y="4014360"/>
            <a:ext cx="118836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r" defTabSz="457200">
              <a:lnSpc>
                <a:spcPts val="1559"/>
              </a:lnSpc>
            </a:pPr>
            <a:r>
              <a:rPr b="1" lang="en-US" sz="13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Free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19"/>
          <p:cNvSpPr/>
          <p:nvPr/>
        </p:nvSpPr>
        <p:spPr>
          <a:xfrm>
            <a:off x="1005840" y="4544640"/>
            <a:ext cx="20113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559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Ghostscript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20"/>
          <p:cNvSpPr/>
          <p:nvPr/>
        </p:nvSpPr>
        <p:spPr>
          <a:xfrm>
            <a:off x="3017520" y="4544640"/>
            <a:ext cx="274284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559"/>
              </a:lnSpc>
            </a:pPr>
            <a:r>
              <a:rPr b="0" lang="en-US" sz="13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PS → PDF conversion (AGPL)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21"/>
          <p:cNvSpPr/>
          <p:nvPr/>
        </p:nvSpPr>
        <p:spPr>
          <a:xfrm>
            <a:off x="5943600" y="4544640"/>
            <a:ext cx="118836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r" defTabSz="457200">
              <a:lnSpc>
                <a:spcPts val="1559"/>
              </a:lnSpc>
            </a:pPr>
            <a:r>
              <a:rPr b="1" lang="en-US" sz="13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Free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22"/>
          <p:cNvSpPr/>
          <p:nvPr/>
        </p:nvSpPr>
        <p:spPr>
          <a:xfrm>
            <a:off x="1005840" y="5074920"/>
            <a:ext cx="20113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559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GitHub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23"/>
          <p:cNvSpPr/>
          <p:nvPr/>
        </p:nvSpPr>
        <p:spPr>
          <a:xfrm>
            <a:off x="3017520" y="5074920"/>
            <a:ext cx="274284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559"/>
              </a:lnSpc>
            </a:pPr>
            <a:r>
              <a:rPr b="0" lang="en-US" sz="13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Version control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24"/>
          <p:cNvSpPr/>
          <p:nvPr/>
        </p:nvSpPr>
        <p:spPr>
          <a:xfrm>
            <a:off x="5943600" y="5074920"/>
            <a:ext cx="118836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r" defTabSz="457200">
              <a:lnSpc>
                <a:spcPts val="1559"/>
              </a:lnSpc>
            </a:pPr>
            <a:r>
              <a:rPr b="1" lang="en-US" sz="13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Free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Rounded Rectangle 25"/>
          <p:cNvSpPr/>
          <p:nvPr/>
        </p:nvSpPr>
        <p:spPr>
          <a:xfrm>
            <a:off x="8046720" y="1828800"/>
            <a:ext cx="3382920" cy="4114440"/>
          </a:xfrm>
          <a:prstGeom prst="roundRect">
            <a:avLst>
              <a:gd name="adj" fmla="val 16667"/>
            </a:avLst>
          </a:prstGeom>
          <a:solidFill>
            <a:srgbClr val="181924"/>
          </a:solidFill>
          <a:ln w="12700">
            <a:solidFill>
              <a:srgbClr val="1a8c1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26"/>
          <p:cNvSpPr/>
          <p:nvPr/>
        </p:nvSpPr>
        <p:spPr>
          <a:xfrm>
            <a:off x="8595360" y="2377440"/>
            <a:ext cx="228564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4320"/>
              </a:lnSpc>
            </a:pPr>
            <a:r>
              <a:rPr b="1" lang="en-US" sz="36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~$2/mo</a:t>
            </a:r>
            <a:endParaRPr b="0" lang="fr-F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27"/>
          <p:cNvSpPr/>
          <p:nvPr/>
        </p:nvSpPr>
        <p:spPr>
          <a:xfrm>
            <a:off x="8595360" y="2971800"/>
            <a:ext cx="22856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321"/>
              </a:lnSpc>
            </a:pP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Total cost (year 1)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28"/>
          <p:cNvSpPr/>
          <p:nvPr/>
        </p:nvSpPr>
        <p:spPr>
          <a:xfrm>
            <a:off x="8412480" y="3657600"/>
            <a:ext cx="2925720" cy="182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2211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No external APIs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ts val="2211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No third-party SaaS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ts val="2211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All computation is local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ts val="2211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GDPR-compliant by default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29"/>
          <p:cNvSpPr/>
          <p:nvPr/>
        </p:nvSpPr>
        <p:spPr>
          <a:xfrm>
            <a:off x="10972800" y="6400800"/>
            <a:ext cx="7311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r" defTabSz="457200">
              <a:lnSpc>
                <a:spcPts val="1199"/>
              </a:lnSpc>
            </a:pPr>
            <a:r>
              <a:rPr b="0" lang="en-US" sz="1000" strike="noStrike" u="none">
                <a:solidFill>
                  <a:srgbClr val="8888a0"/>
                </a:solidFill>
                <a:effectLst/>
                <a:uFillTx/>
                <a:latin typeface="Consolas"/>
              </a:rPr>
              <a:t>08 / 14</a:t>
            </a:r>
            <a:endParaRPr b="0" lang="fr-F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Box 1"/>
          <p:cNvSpPr/>
          <p:nvPr/>
        </p:nvSpPr>
        <p:spPr>
          <a:xfrm>
            <a:off x="731520" y="457200"/>
            <a:ext cx="365724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b="1" lang="en-US" sz="12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LEARNING OBJECTIVES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2"/>
          <p:cNvSpPr/>
          <p:nvPr/>
        </p:nvSpPr>
        <p:spPr>
          <a:xfrm>
            <a:off x="731520" y="822960"/>
            <a:ext cx="39582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Skills </a:t>
            </a:r>
            <a:r>
              <a:rPr b="1" lang="en-US" sz="36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Demonstrated</a:t>
            </a:r>
            <a:endParaRPr b="0" lang="fr-F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Rounded Rectangle 3"/>
          <p:cNvSpPr/>
          <p:nvPr/>
        </p:nvSpPr>
        <p:spPr>
          <a:xfrm>
            <a:off x="731520" y="1828800"/>
            <a:ext cx="3382920" cy="2925720"/>
          </a:xfrm>
          <a:prstGeom prst="roundRect">
            <a:avLst>
              <a:gd name="adj" fmla="val 16667"/>
            </a:avLst>
          </a:prstGeom>
          <a:solidFill>
            <a:srgbClr val="1819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Rectangle 4"/>
          <p:cNvSpPr/>
          <p:nvPr/>
        </p:nvSpPr>
        <p:spPr>
          <a:xfrm>
            <a:off x="731520" y="1828800"/>
            <a:ext cx="3382920" cy="36360"/>
          </a:xfrm>
          <a:prstGeom prst="rect">
            <a:avLst/>
          </a:prstGeom>
          <a:solidFill>
            <a:srgbClr val="4da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Box 5"/>
          <p:cNvSpPr/>
          <p:nvPr/>
        </p:nvSpPr>
        <p:spPr>
          <a:xfrm>
            <a:off x="1005840" y="2011680"/>
            <a:ext cx="29257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b="1" lang="en-US" sz="1200" strike="noStrike" u="none">
                <a:solidFill>
                  <a:srgbClr val="4da6ff"/>
                </a:solidFill>
                <a:effectLst/>
                <a:uFillTx/>
                <a:latin typeface="Consolas"/>
              </a:rPr>
              <a:t>FULL-STACK WEB DEV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6"/>
          <p:cNvSpPr/>
          <p:nvPr/>
        </p:nvSpPr>
        <p:spPr>
          <a:xfrm>
            <a:off x="1005840" y="2468880"/>
            <a:ext cx="2925720" cy="21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2211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0e0ef"/>
                </a:solidFill>
                <a:effectLst/>
                <a:uFillTx/>
                <a:latin typeface="Calibri"/>
              </a:rPr>
              <a:t>&gt; COBOL server-side rendering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2211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0e0ef"/>
                </a:solidFill>
                <a:effectLst/>
                <a:uFillTx/>
                <a:latin typeface="Calibri"/>
              </a:rPr>
              <a:t>&gt; HTMX dynamic frontend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2211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0e0ef"/>
                </a:solidFill>
                <a:effectLst/>
                <a:uFillTx/>
                <a:latin typeface="Calibri"/>
              </a:rPr>
              <a:t>&gt; PostScript document engine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2211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0e0ef"/>
                </a:solidFill>
                <a:effectLst/>
                <a:uFillTx/>
                <a:latin typeface="Calibri"/>
              </a:rPr>
              <a:t>&gt; ISAM data persistence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Rounded Rectangle 7"/>
          <p:cNvSpPr/>
          <p:nvPr/>
        </p:nvSpPr>
        <p:spPr>
          <a:xfrm>
            <a:off x="4480560" y="1828800"/>
            <a:ext cx="3382920" cy="2925720"/>
          </a:xfrm>
          <a:prstGeom prst="roundRect">
            <a:avLst>
              <a:gd name="adj" fmla="val 16667"/>
            </a:avLst>
          </a:prstGeom>
          <a:solidFill>
            <a:srgbClr val="1819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Rectangle 8"/>
          <p:cNvSpPr/>
          <p:nvPr/>
        </p:nvSpPr>
        <p:spPr>
          <a:xfrm>
            <a:off x="4480560" y="1828800"/>
            <a:ext cx="3382920" cy="3636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9"/>
          <p:cNvSpPr/>
          <p:nvPr/>
        </p:nvSpPr>
        <p:spPr>
          <a:xfrm>
            <a:off x="4754880" y="2011680"/>
            <a:ext cx="29257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b="1" lang="en-US" sz="1200" strike="noStrike" u="none">
                <a:solidFill>
                  <a:srgbClr val="ff6b35"/>
                </a:solidFill>
                <a:effectLst/>
                <a:uFillTx/>
                <a:latin typeface="Consolas"/>
              </a:rPr>
              <a:t>HTTP &amp; PROTOCOL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10"/>
          <p:cNvSpPr/>
          <p:nvPr/>
        </p:nvSpPr>
        <p:spPr>
          <a:xfrm>
            <a:off x="4754880" y="2468880"/>
            <a:ext cx="2925720" cy="21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2211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0e0ef"/>
                </a:solidFill>
                <a:effectLst/>
                <a:uFillTx/>
                <a:latin typeface="Calibri"/>
              </a:rPr>
              <a:t>&gt; CGI request/response cycle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2211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0e0ef"/>
                </a:solidFill>
                <a:effectLst/>
                <a:uFillTx/>
                <a:latin typeface="Calibri"/>
              </a:rPr>
              <a:t>&gt; HTTP methods &amp; headers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2211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0e0ef"/>
                </a:solidFill>
                <a:effectLst/>
                <a:uFillTx/>
                <a:latin typeface="Calibri"/>
              </a:rPr>
              <a:t>&gt; Cookie-based sessions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2211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0e0ef"/>
                </a:solidFill>
                <a:effectLst/>
                <a:uFillTx/>
                <a:latin typeface="Calibri"/>
              </a:rPr>
              <a:t>&gt; URL encoding / decoding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Rounded Rectangle 11"/>
          <p:cNvSpPr/>
          <p:nvPr/>
        </p:nvSpPr>
        <p:spPr>
          <a:xfrm>
            <a:off x="8229600" y="1828800"/>
            <a:ext cx="3382920" cy="2925720"/>
          </a:xfrm>
          <a:prstGeom prst="roundRect">
            <a:avLst>
              <a:gd name="adj" fmla="val 16667"/>
            </a:avLst>
          </a:prstGeom>
          <a:solidFill>
            <a:srgbClr val="1819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Rectangle 12"/>
          <p:cNvSpPr/>
          <p:nvPr/>
        </p:nvSpPr>
        <p:spPr>
          <a:xfrm>
            <a:off x="8229600" y="1828800"/>
            <a:ext cx="3382920" cy="3636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Box 13"/>
          <p:cNvSpPr/>
          <p:nvPr/>
        </p:nvSpPr>
        <p:spPr>
          <a:xfrm>
            <a:off x="8503920" y="2011680"/>
            <a:ext cx="29257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b="1" lang="en-US" sz="1200" strike="noStrike" u="none">
                <a:solidFill>
                  <a:srgbClr val="a78bfa"/>
                </a:solidFill>
                <a:effectLst/>
                <a:uFillTx/>
                <a:latin typeface="Consolas"/>
              </a:rPr>
              <a:t>DEPLOYMENT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14"/>
          <p:cNvSpPr/>
          <p:nvPr/>
        </p:nvSpPr>
        <p:spPr>
          <a:xfrm>
            <a:off x="8503920" y="2468880"/>
            <a:ext cx="2925720" cy="21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2211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0e0ef"/>
                </a:solidFill>
                <a:effectLst/>
                <a:uFillTx/>
                <a:latin typeface="Calibri"/>
              </a:rPr>
              <a:t>&gt; AWS EC2 provisioning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2211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0e0ef"/>
                </a:solidFill>
                <a:effectLst/>
                <a:uFillTx/>
                <a:latin typeface="Calibri"/>
              </a:rPr>
              <a:t>&gt; Apache configuration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2211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0e0ef"/>
                </a:solidFill>
                <a:effectLst/>
                <a:uFillTx/>
                <a:latin typeface="Calibri"/>
              </a:rPr>
              <a:t>&gt; SSL/TLS setup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2211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0e0ef"/>
                </a:solidFill>
                <a:effectLst/>
                <a:uFillTx/>
                <a:latin typeface="Calibri"/>
              </a:rPr>
              <a:t>&gt; Build automation (Make)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Rounded Rectangle 15"/>
          <p:cNvSpPr/>
          <p:nvPr/>
        </p:nvSpPr>
        <p:spPr>
          <a:xfrm>
            <a:off x="731520" y="5120640"/>
            <a:ext cx="10698120" cy="822600"/>
          </a:xfrm>
          <a:prstGeom prst="roundRect">
            <a:avLst>
              <a:gd name="adj" fmla="val 16667"/>
            </a:avLst>
          </a:prstGeom>
          <a:solidFill>
            <a:srgbClr val="181924"/>
          </a:solidFill>
          <a:ln w="12700">
            <a:solidFill>
              <a:srgbClr val="1a8c1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16"/>
          <p:cNvSpPr/>
          <p:nvPr/>
        </p:nvSpPr>
        <p:spPr>
          <a:xfrm>
            <a:off x="1188720" y="5257800"/>
            <a:ext cx="987516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919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Core skill: picking up unknown technologies under time pressure and delivering a production-grade result.</a:t>
            </a:r>
            <a:endParaRPr b="0" lang="fr-F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17"/>
          <p:cNvSpPr/>
          <p:nvPr/>
        </p:nvSpPr>
        <p:spPr>
          <a:xfrm>
            <a:off x="10972800" y="6400800"/>
            <a:ext cx="7311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r" defTabSz="457200">
              <a:lnSpc>
                <a:spcPts val="1199"/>
              </a:lnSpc>
            </a:pPr>
            <a:r>
              <a:rPr b="0" lang="en-US" sz="1000" strike="noStrike" u="none">
                <a:solidFill>
                  <a:srgbClr val="8888a0"/>
                </a:solidFill>
                <a:effectLst/>
                <a:uFillTx/>
                <a:latin typeface="Consolas"/>
              </a:rPr>
              <a:t>09 / 14</a:t>
            </a:r>
            <a:endParaRPr b="0" lang="fr-F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Box 1"/>
          <p:cNvSpPr/>
          <p:nvPr/>
        </p:nvSpPr>
        <p:spPr>
          <a:xfrm>
            <a:off x="731520" y="457200"/>
            <a:ext cx="365724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b="1" lang="en-US" sz="12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CHALLENGES IDENTIFIED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2"/>
          <p:cNvSpPr/>
          <p:nvPr/>
        </p:nvSpPr>
        <p:spPr>
          <a:xfrm>
            <a:off x="731520" y="822960"/>
            <a:ext cx="38106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Risks &amp; </a:t>
            </a:r>
            <a:r>
              <a:rPr b="1" lang="en-US" sz="36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Mitigations</a:t>
            </a:r>
            <a:endParaRPr b="0" lang="fr-F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Rounded Rectangle 3"/>
          <p:cNvSpPr/>
          <p:nvPr/>
        </p:nvSpPr>
        <p:spPr>
          <a:xfrm>
            <a:off x="731520" y="1828800"/>
            <a:ext cx="10698120" cy="3840120"/>
          </a:xfrm>
          <a:prstGeom prst="roundRect">
            <a:avLst>
              <a:gd name="adj" fmla="val 16667"/>
            </a:avLst>
          </a:prstGeom>
          <a:solidFill>
            <a:srgbClr val="1819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4"/>
          <p:cNvSpPr/>
          <p:nvPr/>
        </p:nvSpPr>
        <p:spPr>
          <a:xfrm>
            <a:off x="1005840" y="1920240"/>
            <a:ext cx="32000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321"/>
              </a:lnSpc>
            </a:pPr>
            <a:r>
              <a:rPr b="1" lang="en-US" sz="11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CHALLENGE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5"/>
          <p:cNvSpPr/>
          <p:nvPr/>
        </p:nvSpPr>
        <p:spPr>
          <a:xfrm>
            <a:off x="4206240" y="1920240"/>
            <a:ext cx="10969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321"/>
              </a:lnSpc>
            </a:pPr>
            <a:r>
              <a:rPr b="1" lang="en-US" sz="11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RISK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6"/>
          <p:cNvSpPr/>
          <p:nvPr/>
        </p:nvSpPr>
        <p:spPr>
          <a:xfrm>
            <a:off x="5394960" y="1920240"/>
            <a:ext cx="56689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321"/>
              </a:lnSpc>
            </a:pPr>
            <a:r>
              <a:rPr b="1" lang="en-US" sz="11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MITIGATION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7"/>
          <p:cNvSpPr/>
          <p:nvPr/>
        </p:nvSpPr>
        <p:spPr>
          <a:xfrm>
            <a:off x="1005840" y="2377440"/>
            <a:ext cx="310860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559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COBOL + CGI integration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8"/>
          <p:cNvSpPr/>
          <p:nvPr/>
        </p:nvSpPr>
        <p:spPr>
          <a:xfrm>
            <a:off x="4206240" y="2377440"/>
            <a:ext cx="10969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321"/>
              </a:lnSpc>
            </a:pPr>
            <a:r>
              <a:rPr b="1" lang="en-US" sz="1100" strike="noStrike" u="none">
                <a:solidFill>
                  <a:srgbClr val="fbbf24"/>
                </a:solidFill>
                <a:effectLst/>
                <a:uFillTx/>
                <a:latin typeface="Consolas"/>
              </a:rPr>
              <a:t>MEDIUM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9"/>
          <p:cNvSpPr/>
          <p:nvPr/>
        </p:nvSpPr>
        <p:spPr>
          <a:xfrm>
            <a:off x="5394960" y="2377440"/>
            <a:ext cx="56689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b="0" lang="en-US" sz="12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ACCEPT FROM ENVIRONMENT + DISPLAY — prototype Day 1-2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10"/>
          <p:cNvSpPr/>
          <p:nvPr/>
        </p:nvSpPr>
        <p:spPr>
          <a:xfrm>
            <a:off x="1005840" y="2907720"/>
            <a:ext cx="310860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559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Form data parsing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11"/>
          <p:cNvSpPr/>
          <p:nvPr/>
        </p:nvSpPr>
        <p:spPr>
          <a:xfrm>
            <a:off x="4206240" y="2907720"/>
            <a:ext cx="10969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321"/>
              </a:lnSpc>
            </a:pPr>
            <a:r>
              <a:rPr b="1" lang="en-US" sz="1100" strike="noStrike" u="none">
                <a:solidFill>
                  <a:srgbClr val="fbbf24"/>
                </a:solidFill>
                <a:effectLst/>
                <a:uFillTx/>
                <a:latin typeface="Consolas"/>
              </a:rPr>
              <a:t>MEDIUM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12"/>
          <p:cNvSpPr/>
          <p:nvPr/>
        </p:nvSpPr>
        <p:spPr>
          <a:xfrm>
            <a:off x="5394960" y="2907720"/>
            <a:ext cx="56689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b="0" lang="en-US" sz="12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Reusable cgi-utils.cob module (~50 lines)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13"/>
          <p:cNvSpPr/>
          <p:nvPr/>
        </p:nvSpPr>
        <p:spPr>
          <a:xfrm>
            <a:off x="1005840" y="3438000"/>
            <a:ext cx="310860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559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PostScript learning curve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14"/>
          <p:cNvSpPr/>
          <p:nvPr/>
        </p:nvSpPr>
        <p:spPr>
          <a:xfrm>
            <a:off x="4206240" y="3438000"/>
            <a:ext cx="10969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321"/>
              </a:lnSpc>
            </a:pPr>
            <a:r>
              <a:rPr b="1" lang="en-US" sz="11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LOW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15"/>
          <p:cNvSpPr/>
          <p:nvPr/>
        </p:nvSpPr>
        <p:spPr>
          <a:xfrm>
            <a:off x="5394960" y="3438000"/>
            <a:ext cx="56689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b="0" lang="en-US" sz="12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Only ~15 commands needed. Template is ~150 lines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16"/>
          <p:cNvSpPr/>
          <p:nvPr/>
        </p:nvSpPr>
        <p:spPr>
          <a:xfrm>
            <a:off x="1005840" y="3968640"/>
            <a:ext cx="310860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559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COBOL calling Ghostscript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17"/>
          <p:cNvSpPr/>
          <p:nvPr/>
        </p:nvSpPr>
        <p:spPr>
          <a:xfrm>
            <a:off x="4206240" y="3968640"/>
            <a:ext cx="10969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321"/>
              </a:lnSpc>
            </a:pPr>
            <a:r>
              <a:rPr b="1" lang="en-US" sz="11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LOW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18"/>
          <p:cNvSpPr/>
          <p:nvPr/>
        </p:nvSpPr>
        <p:spPr>
          <a:xfrm>
            <a:off x="5394960" y="3968640"/>
            <a:ext cx="56689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b="0" lang="en-US" sz="12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CALL "SYSTEM" — one line of COBOL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19"/>
          <p:cNvSpPr/>
          <p:nvPr/>
        </p:nvSpPr>
        <p:spPr>
          <a:xfrm>
            <a:off x="1005840" y="4498920"/>
            <a:ext cx="310860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559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Session management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20"/>
          <p:cNvSpPr/>
          <p:nvPr/>
        </p:nvSpPr>
        <p:spPr>
          <a:xfrm>
            <a:off x="4206240" y="4498920"/>
            <a:ext cx="10969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321"/>
              </a:lnSpc>
            </a:pPr>
            <a:r>
              <a:rPr b="1" lang="en-US" sz="1100" strike="noStrike" u="none">
                <a:solidFill>
                  <a:srgbClr val="fbbf24"/>
                </a:solidFill>
                <a:effectLst/>
                <a:uFillTx/>
                <a:latin typeface="Consolas"/>
              </a:rPr>
              <a:t>MEDIUM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21"/>
          <p:cNvSpPr/>
          <p:nvPr/>
        </p:nvSpPr>
        <p:spPr>
          <a:xfrm>
            <a:off x="5394960" y="4498920"/>
            <a:ext cx="56689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b="0" lang="en-US" sz="12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Cookie + ISAM session store. Deferred to Week 3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22"/>
          <p:cNvSpPr/>
          <p:nvPr/>
        </p:nvSpPr>
        <p:spPr>
          <a:xfrm>
            <a:off x="1005840" y="5029200"/>
            <a:ext cx="310860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559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Dev environment (macOS)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23"/>
          <p:cNvSpPr/>
          <p:nvPr/>
        </p:nvSpPr>
        <p:spPr>
          <a:xfrm>
            <a:off x="4206240" y="5029200"/>
            <a:ext cx="10969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321"/>
              </a:lnSpc>
            </a:pPr>
            <a:r>
              <a:rPr b="1" lang="en-US" sz="11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LOW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24"/>
          <p:cNvSpPr/>
          <p:nvPr/>
        </p:nvSpPr>
        <p:spPr>
          <a:xfrm>
            <a:off x="5394960" y="5029200"/>
            <a:ext cx="56689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b="0" lang="en-US" sz="12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Develop directly on EC2 via SSH + VS Code Remote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Rounded Rectangle 25"/>
          <p:cNvSpPr/>
          <p:nvPr/>
        </p:nvSpPr>
        <p:spPr>
          <a:xfrm>
            <a:off x="731520" y="5852160"/>
            <a:ext cx="10698120" cy="639720"/>
          </a:xfrm>
          <a:prstGeom prst="roundRect">
            <a:avLst>
              <a:gd name="adj" fmla="val 16667"/>
            </a:avLst>
          </a:prstGeom>
          <a:solidFill>
            <a:srgbClr val="181924"/>
          </a:solidFill>
          <a:ln w="12700">
            <a:solidFill>
              <a:srgbClr val="1a8c1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8" name="TextBox 26"/>
          <p:cNvSpPr/>
          <p:nvPr/>
        </p:nvSpPr>
        <p:spPr>
          <a:xfrm>
            <a:off x="1188720" y="5943600"/>
            <a:ext cx="9875160" cy="41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559"/>
              </a:lnSpc>
            </a:pPr>
            <a:r>
              <a:rPr b="0" lang="en-US" sz="13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Fallback: If CGI proves problematic, a thin Python wrapper invokes COBOL binaries. The calculation engine stays intact regardless.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27"/>
          <p:cNvSpPr/>
          <p:nvPr/>
        </p:nvSpPr>
        <p:spPr>
          <a:xfrm>
            <a:off x="10972800" y="6400800"/>
            <a:ext cx="7311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r" defTabSz="457200">
              <a:lnSpc>
                <a:spcPts val="1199"/>
              </a:lnSpc>
            </a:pPr>
            <a:r>
              <a:rPr b="0" lang="en-US" sz="1000" strike="noStrike" u="none">
                <a:solidFill>
                  <a:srgbClr val="8888a0"/>
                </a:solidFill>
                <a:effectLst/>
                <a:uFillTx/>
                <a:latin typeface="Consolas"/>
              </a:rPr>
              <a:t>10 / 14</a:t>
            </a:r>
            <a:endParaRPr b="0" lang="fr-F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extBox 1"/>
          <p:cNvSpPr/>
          <p:nvPr/>
        </p:nvSpPr>
        <p:spPr>
          <a:xfrm>
            <a:off x="731520" y="457200"/>
            <a:ext cx="365724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b="1" lang="en-US" sz="12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SCHEDULE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2"/>
          <p:cNvSpPr/>
          <p:nvPr/>
        </p:nvSpPr>
        <p:spPr>
          <a:xfrm>
            <a:off x="731520" y="822960"/>
            <a:ext cx="386136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27 Days — </a:t>
            </a:r>
            <a:r>
              <a:rPr b="1" lang="en-US" sz="36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4 Weeks</a:t>
            </a:r>
            <a:endParaRPr b="0" lang="fr-F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Rounded Rectangle 3"/>
          <p:cNvSpPr/>
          <p:nvPr/>
        </p:nvSpPr>
        <p:spPr>
          <a:xfrm>
            <a:off x="731520" y="1828800"/>
            <a:ext cx="2605680" cy="4297320"/>
          </a:xfrm>
          <a:prstGeom prst="roundRect">
            <a:avLst>
              <a:gd name="adj" fmla="val 16667"/>
            </a:avLst>
          </a:prstGeom>
          <a:solidFill>
            <a:srgbClr val="1819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Rectangle 4"/>
          <p:cNvSpPr/>
          <p:nvPr/>
        </p:nvSpPr>
        <p:spPr>
          <a:xfrm>
            <a:off x="731520" y="1828800"/>
            <a:ext cx="2605680" cy="36360"/>
          </a:xfrm>
          <a:prstGeom prst="rect">
            <a:avLst/>
          </a:prstGeom>
          <a:solidFill>
            <a:srgbClr val="33ff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4" name="TextBox 5"/>
          <p:cNvSpPr/>
          <p:nvPr/>
        </p:nvSpPr>
        <p:spPr>
          <a:xfrm>
            <a:off x="914400" y="2011680"/>
            <a:ext cx="22856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199"/>
              </a:lnSpc>
            </a:pPr>
            <a:r>
              <a:rPr b="1" lang="en-US" sz="10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WEEK 1 — Days 1-7</a:t>
            </a:r>
            <a:endParaRPr b="0" lang="fr-F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6"/>
          <p:cNvSpPr/>
          <p:nvPr/>
        </p:nvSpPr>
        <p:spPr>
          <a:xfrm>
            <a:off x="914400" y="2286000"/>
            <a:ext cx="2285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919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Foundations</a:t>
            </a:r>
            <a:endParaRPr b="0" lang="fr-F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7"/>
          <p:cNvSpPr/>
          <p:nvPr/>
        </p:nvSpPr>
        <p:spPr>
          <a:xfrm>
            <a:off x="914400" y="2743200"/>
            <a:ext cx="2285640" cy="32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760"/>
              </a:lnSpc>
              <a:spcAft>
                <a:spcPts val="201"/>
              </a:spcAft>
            </a:pP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• Dev environment setup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760"/>
              </a:lnSpc>
              <a:spcAft>
                <a:spcPts val="201"/>
              </a:spcAft>
            </a:pP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• COBOL CGI proof of concept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760"/>
              </a:lnSpc>
              <a:spcAft>
                <a:spcPts val="201"/>
              </a:spcAft>
            </a:pP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• HTMX integration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760"/>
              </a:lnSpc>
              <a:spcAft>
                <a:spcPts val="201"/>
              </a:spcAft>
            </a:pP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• ISAM data model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760"/>
              </a:lnSpc>
              <a:spcAft>
                <a:spcPts val="201"/>
              </a:spcAft>
            </a:pP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• Client CRUD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760"/>
              </a:lnSpc>
              <a:spcAft>
                <a:spcPts val="201"/>
              </a:spcAft>
            </a:pP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• Invoice creation + calc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760"/>
              </a:lnSpc>
              <a:spcAft>
                <a:spcPts val="201"/>
              </a:spcAft>
            </a:pP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• Invoice listing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Rounded Rectangle 8"/>
          <p:cNvSpPr/>
          <p:nvPr/>
        </p:nvSpPr>
        <p:spPr>
          <a:xfrm>
            <a:off x="3611880" y="1828800"/>
            <a:ext cx="2605680" cy="4297320"/>
          </a:xfrm>
          <a:prstGeom prst="roundRect">
            <a:avLst>
              <a:gd name="adj" fmla="val 16667"/>
            </a:avLst>
          </a:prstGeom>
          <a:solidFill>
            <a:srgbClr val="1819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Rectangle 9"/>
          <p:cNvSpPr/>
          <p:nvPr/>
        </p:nvSpPr>
        <p:spPr>
          <a:xfrm>
            <a:off x="3611880" y="1828800"/>
            <a:ext cx="2605680" cy="36360"/>
          </a:xfrm>
          <a:prstGeom prst="rect">
            <a:avLst/>
          </a:prstGeom>
          <a:solidFill>
            <a:srgbClr val="4da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9" name="TextBox 10"/>
          <p:cNvSpPr/>
          <p:nvPr/>
        </p:nvSpPr>
        <p:spPr>
          <a:xfrm>
            <a:off x="3794760" y="2011680"/>
            <a:ext cx="22856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199"/>
              </a:lnSpc>
            </a:pPr>
            <a:r>
              <a:rPr b="1" lang="en-US" sz="1000" strike="noStrike" u="none">
                <a:solidFill>
                  <a:srgbClr val="4da6ff"/>
                </a:solidFill>
                <a:effectLst/>
                <a:uFillTx/>
                <a:latin typeface="Consolas"/>
              </a:rPr>
              <a:t>WEEK 2 — Days 8-14</a:t>
            </a:r>
            <a:endParaRPr b="0" lang="fr-F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11"/>
          <p:cNvSpPr/>
          <p:nvPr/>
        </p:nvSpPr>
        <p:spPr>
          <a:xfrm>
            <a:off x="3794760" y="2286000"/>
            <a:ext cx="2285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919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PDF Engine</a:t>
            </a:r>
            <a:endParaRPr b="0" lang="fr-F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12"/>
          <p:cNvSpPr/>
          <p:nvPr/>
        </p:nvSpPr>
        <p:spPr>
          <a:xfrm>
            <a:off x="3794760" y="2743200"/>
            <a:ext cx="2285640" cy="32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760"/>
              </a:lnSpc>
              <a:spcAft>
                <a:spcPts val="201"/>
              </a:spcAft>
            </a:pP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• PostScript crash course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760"/>
              </a:lnSpc>
              <a:spcAft>
                <a:spcPts val="201"/>
              </a:spcAft>
            </a:pP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• Dynamic PDF from COBOL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760"/>
              </a:lnSpc>
              <a:spcAft>
                <a:spcPts val="201"/>
              </a:spcAft>
            </a:pP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• End-to-end PDF flow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760"/>
              </a:lnSpc>
              <a:spcAft>
                <a:spcPts val="201"/>
              </a:spcAft>
            </a:pP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• Invoice numbering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760"/>
              </a:lnSpc>
              <a:spcAft>
                <a:spcPts val="201"/>
              </a:spcAft>
            </a:pP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• Invoice status workflow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760"/>
              </a:lnSpc>
              <a:spcAft>
                <a:spcPts val="201"/>
              </a:spcAft>
            </a:pP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• Retro terminal CSS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760"/>
              </a:lnSpc>
              <a:spcAft>
                <a:spcPts val="201"/>
              </a:spcAft>
            </a:pP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• Testing + bug fixes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Rounded Rectangle 13"/>
          <p:cNvSpPr/>
          <p:nvPr/>
        </p:nvSpPr>
        <p:spPr>
          <a:xfrm>
            <a:off x="6492240" y="1828800"/>
            <a:ext cx="2605680" cy="4297320"/>
          </a:xfrm>
          <a:prstGeom prst="roundRect">
            <a:avLst>
              <a:gd name="adj" fmla="val 16667"/>
            </a:avLst>
          </a:prstGeom>
          <a:solidFill>
            <a:srgbClr val="1819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Rectangle 14"/>
          <p:cNvSpPr/>
          <p:nvPr/>
        </p:nvSpPr>
        <p:spPr>
          <a:xfrm>
            <a:off x="6492240" y="1828800"/>
            <a:ext cx="2605680" cy="3636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TextBox 15"/>
          <p:cNvSpPr/>
          <p:nvPr/>
        </p:nvSpPr>
        <p:spPr>
          <a:xfrm>
            <a:off x="6675120" y="2011680"/>
            <a:ext cx="22856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199"/>
              </a:lnSpc>
            </a:pPr>
            <a:r>
              <a:rPr b="1" lang="en-US" sz="1000" strike="noStrike" u="none">
                <a:solidFill>
                  <a:srgbClr val="ff6b35"/>
                </a:solidFill>
                <a:effectLst/>
                <a:uFillTx/>
                <a:latin typeface="Consolas"/>
              </a:rPr>
              <a:t>WEEK 3 — Days 15-21</a:t>
            </a:r>
            <a:endParaRPr b="0" lang="fr-F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16"/>
          <p:cNvSpPr/>
          <p:nvPr/>
        </p:nvSpPr>
        <p:spPr>
          <a:xfrm>
            <a:off x="6675120" y="2286000"/>
            <a:ext cx="2285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919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Business Logic</a:t>
            </a:r>
            <a:endParaRPr b="0" lang="fr-F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17"/>
          <p:cNvSpPr/>
          <p:nvPr/>
        </p:nvSpPr>
        <p:spPr>
          <a:xfrm>
            <a:off x="6675120" y="2743200"/>
            <a:ext cx="2285640" cy="32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760"/>
              </a:lnSpc>
              <a:spcAft>
                <a:spcPts val="201"/>
              </a:spcAft>
            </a:pP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• URSSAF calculator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760"/>
              </a:lnSpc>
              <a:spcAft>
                <a:spcPts val="201"/>
              </a:spcAft>
            </a:pP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• VAT threshold tracker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760"/>
              </a:lnSpc>
              <a:spcAft>
                <a:spcPts val="201"/>
              </a:spcAft>
            </a:pP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• Revenue dashboard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760"/>
              </a:lnSpc>
              <a:spcAft>
                <a:spcPts val="201"/>
              </a:spcAft>
            </a:pP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• Modern theme + toggle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760"/>
              </a:lnSpc>
              <a:spcAft>
                <a:spcPts val="201"/>
              </a:spcAft>
            </a:pP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• Responsive design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760"/>
              </a:lnSpc>
              <a:spcAft>
                <a:spcPts val="201"/>
              </a:spcAft>
            </a:pP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• Authentication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760"/>
              </a:lnSpc>
              <a:spcAft>
                <a:spcPts val="201"/>
              </a:spcAft>
            </a:pP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• Testing + bug fixes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Rounded Rectangle 18"/>
          <p:cNvSpPr/>
          <p:nvPr/>
        </p:nvSpPr>
        <p:spPr>
          <a:xfrm>
            <a:off x="9372600" y="1828800"/>
            <a:ext cx="2605680" cy="4297320"/>
          </a:xfrm>
          <a:prstGeom prst="roundRect">
            <a:avLst>
              <a:gd name="adj" fmla="val 16667"/>
            </a:avLst>
          </a:prstGeom>
          <a:solidFill>
            <a:srgbClr val="1819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8" name="Rectangle 19"/>
          <p:cNvSpPr/>
          <p:nvPr/>
        </p:nvSpPr>
        <p:spPr>
          <a:xfrm>
            <a:off x="9372600" y="1828800"/>
            <a:ext cx="2605680" cy="3636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9" name="TextBox 20"/>
          <p:cNvSpPr/>
          <p:nvPr/>
        </p:nvSpPr>
        <p:spPr>
          <a:xfrm>
            <a:off x="9555480" y="2011680"/>
            <a:ext cx="22856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199"/>
              </a:lnSpc>
            </a:pPr>
            <a:r>
              <a:rPr b="1" lang="en-US" sz="1000" strike="noStrike" u="none">
                <a:solidFill>
                  <a:srgbClr val="a78bfa"/>
                </a:solidFill>
                <a:effectLst/>
                <a:uFillTx/>
                <a:latin typeface="Consolas"/>
              </a:rPr>
              <a:t>WEEK 4 — Days 22-27</a:t>
            </a:r>
            <a:endParaRPr b="0" lang="fr-F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21"/>
          <p:cNvSpPr/>
          <p:nvPr/>
        </p:nvSpPr>
        <p:spPr>
          <a:xfrm>
            <a:off x="9555480" y="2286000"/>
            <a:ext cx="2285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919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Ship It</a:t>
            </a:r>
            <a:endParaRPr b="0" lang="fr-F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22"/>
          <p:cNvSpPr/>
          <p:nvPr/>
        </p:nvSpPr>
        <p:spPr>
          <a:xfrm>
            <a:off x="9555480" y="2743200"/>
            <a:ext cx="2285640" cy="32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760"/>
              </a:lnSpc>
              <a:spcAft>
                <a:spcPts val="201"/>
              </a:spcAft>
            </a:pP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• Deploy on AWS EC2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760"/>
              </a:lnSpc>
              <a:spcAft>
                <a:spcPts val="201"/>
              </a:spcAft>
            </a:pP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• Landing page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760"/>
              </a:lnSpc>
              <a:spcAft>
                <a:spcPts val="201"/>
              </a:spcAft>
            </a:pP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• E2E testing on prod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760"/>
              </a:lnSpc>
              <a:spcAft>
                <a:spcPts val="201"/>
              </a:spcAft>
            </a:pP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• README + docs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760"/>
              </a:lnSpc>
              <a:spcAft>
                <a:spcPts val="201"/>
              </a:spcAft>
            </a:pP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• Pitch slides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760"/>
              </a:lnSpc>
              <a:spcAft>
                <a:spcPts val="201"/>
              </a:spcAft>
            </a:pPr>
            <a:r>
              <a:rPr b="0" lang="en-US" sz="11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• Rehearse pitch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23"/>
          <p:cNvSpPr/>
          <p:nvPr/>
        </p:nvSpPr>
        <p:spPr>
          <a:xfrm>
            <a:off x="731520" y="6400800"/>
            <a:ext cx="106981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b="0" lang="en-US" sz="12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Critical path:  Day 2: CGI works  →  Day 10: PDF works  →  Day 14: MVP complete  →  Day 22: Deploy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24"/>
          <p:cNvSpPr/>
          <p:nvPr/>
        </p:nvSpPr>
        <p:spPr>
          <a:xfrm>
            <a:off x="10972800" y="6400800"/>
            <a:ext cx="7311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r" defTabSz="457200">
              <a:lnSpc>
                <a:spcPts val="1199"/>
              </a:lnSpc>
            </a:pPr>
            <a:r>
              <a:rPr b="0" lang="en-US" sz="1000" strike="noStrike" u="none">
                <a:solidFill>
                  <a:srgbClr val="8888a0"/>
                </a:solidFill>
                <a:effectLst/>
                <a:uFillTx/>
                <a:latin typeface="Consolas"/>
              </a:rPr>
              <a:t>11 / 14</a:t>
            </a:r>
            <a:endParaRPr b="0" lang="fr-F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Box 1"/>
          <p:cNvSpPr/>
          <p:nvPr/>
        </p:nvSpPr>
        <p:spPr>
          <a:xfrm>
            <a:off x="731520" y="457200"/>
            <a:ext cx="365724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b="1" lang="en-US" sz="12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MOCK-UPS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2"/>
          <p:cNvSpPr/>
          <p:nvPr/>
        </p:nvSpPr>
        <p:spPr>
          <a:xfrm>
            <a:off x="731520" y="822960"/>
            <a:ext cx="437724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Retro Terminal </a:t>
            </a:r>
            <a:r>
              <a:rPr b="1" lang="en-US" sz="36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Theme</a:t>
            </a:r>
            <a:endParaRPr b="0" lang="fr-F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Rounded Rectangle 3"/>
          <p:cNvSpPr/>
          <p:nvPr/>
        </p:nvSpPr>
        <p:spPr>
          <a:xfrm>
            <a:off x="731520" y="1828800"/>
            <a:ext cx="5303160" cy="4114440"/>
          </a:xfrm>
          <a:prstGeom prst="roundRect">
            <a:avLst>
              <a:gd name="adj" fmla="val 16667"/>
            </a:avLst>
          </a:prstGeom>
          <a:solidFill>
            <a:srgbClr val="0a0a0a"/>
          </a:solidFill>
          <a:ln w="12700">
            <a:solidFill>
              <a:srgbClr val="1a8c1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TextBox 4"/>
          <p:cNvSpPr/>
          <p:nvPr/>
        </p:nvSpPr>
        <p:spPr>
          <a:xfrm>
            <a:off x="914400" y="1965960"/>
            <a:ext cx="4937400" cy="39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918"/>
              </a:lnSpc>
            </a:pPr>
            <a:r>
              <a:rPr b="0" lang="en-US" sz="8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COBILL v1.0      INVOICE MANAGEMENT</a:t>
            </a:r>
            <a:br>
              <a:rPr sz="800"/>
            </a:br>
            <a:r>
              <a:rPr b="0" lang="en-US" sz="8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════════════════════════════════════</a:t>
            </a:r>
            <a:br>
              <a:rPr sz="800"/>
            </a:br>
            <a:r>
              <a:rPr b="0" lang="en-US" sz="8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[F1] NEW  [F2] CLIENTS  [F3] DASH</a:t>
            </a:r>
            <a:br>
              <a:rPr sz="800"/>
            </a:br>
            <a:br>
              <a:rPr sz="800"/>
            </a:br>
            <a:r>
              <a:rPr b="0" lang="en-US" sz="8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CREATE NEW INVOICE</a:t>
            </a:r>
            <a:br>
              <a:rPr sz="800"/>
            </a:br>
            <a:r>
              <a:rPr b="0" lang="en-US" sz="8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CLIENT...: [Dupont SARL_______]</a:t>
            </a:r>
            <a:br>
              <a:rPr sz="800"/>
            </a:br>
            <a:r>
              <a:rPr b="0" lang="en-US" sz="8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DATE.....: [2026-03-25]</a:t>
            </a:r>
            <a:br>
              <a:rPr sz="800"/>
            </a:br>
            <a:br>
              <a:rPr sz="800"/>
            </a:br>
            <a:r>
              <a:rPr b="0" lang="en-US" sz="8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┌───┬────────────┬─────┬──────┬───────┐</a:t>
            </a:r>
            <a:br>
              <a:rPr sz="800"/>
            </a:br>
            <a:r>
              <a:rPr b="0" lang="en-US" sz="8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│ # │ DESC       │ QTY │ RATE │ TOTAL │</a:t>
            </a:r>
            <a:br>
              <a:rPr sz="800"/>
            </a:br>
            <a:r>
              <a:rPr b="0" lang="en-US" sz="8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├───┼────────────┼─────┼──────┼───────┤</a:t>
            </a:r>
            <a:br>
              <a:rPr sz="800"/>
            </a:br>
            <a:r>
              <a:rPr b="0" lang="en-US" sz="8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│ 1 │ Web dev    │ 5.00│300.00│1500.00│</a:t>
            </a:r>
            <a:br>
              <a:rPr sz="800"/>
            </a:br>
            <a:r>
              <a:rPr b="0" lang="en-US" sz="8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│ 2 │ UI/UX      │ 2.00│250.00│ 500.00│</a:t>
            </a:r>
            <a:br>
              <a:rPr sz="800"/>
            </a:br>
            <a:r>
              <a:rPr b="0" lang="en-US" sz="8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└───┴────────────┴─────┴──────┴───────┘</a:t>
            </a:r>
            <a:br>
              <a:rPr sz="800"/>
            </a:br>
            <a:r>
              <a:rPr b="0" lang="en-US" sz="8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         H.T. 2,000.00 | TTC 2,400.00</a:t>
            </a:r>
            <a:br>
              <a:rPr sz="800"/>
            </a:br>
            <a:br>
              <a:rPr sz="800"/>
            </a:br>
            <a:r>
              <a:rPr b="0" lang="en-US" sz="8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[GENERATE PDF]  [SAVE DRAFT]</a:t>
            </a:r>
            <a:endParaRPr b="0" lang="fr-FR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Rounded Rectangle 5"/>
          <p:cNvSpPr/>
          <p:nvPr/>
        </p:nvSpPr>
        <p:spPr>
          <a:xfrm>
            <a:off x="6400800" y="1828800"/>
            <a:ext cx="5303160" cy="4114440"/>
          </a:xfrm>
          <a:prstGeom prst="roundRect">
            <a:avLst>
              <a:gd name="adj" fmla="val 16667"/>
            </a:avLst>
          </a:prstGeom>
          <a:solidFill>
            <a:srgbClr val="0a0a0a"/>
          </a:solidFill>
          <a:ln w="12700">
            <a:solidFill>
              <a:srgbClr val="1a8c1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9" name="TextBox 6"/>
          <p:cNvSpPr/>
          <p:nvPr/>
        </p:nvSpPr>
        <p:spPr>
          <a:xfrm>
            <a:off x="6583680" y="1965960"/>
            <a:ext cx="4937400" cy="39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918"/>
              </a:lnSpc>
            </a:pPr>
            <a:r>
              <a:rPr b="0" lang="en-US" sz="8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COBILL v1.0      REVENUE DASHBOARD</a:t>
            </a:r>
            <a:br>
              <a:rPr sz="800"/>
            </a:br>
            <a:r>
              <a:rPr b="0" lang="en-US" sz="8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════════════════════════════════════</a:t>
            </a:r>
            <a:br>
              <a:rPr sz="800"/>
            </a:br>
            <a:r>
              <a:rPr b="0" lang="en-US" sz="8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YEAR 2026      CONSULTING (BNC)</a:t>
            </a:r>
            <a:br>
              <a:rPr sz="800"/>
            </a:br>
            <a:br>
              <a:rPr sz="800"/>
            </a:br>
            <a:r>
              <a:rPr b="0" lang="en-US" sz="8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MONTHLY REVENUE (EUR H.T.)</a:t>
            </a:r>
            <a:br>
              <a:rPr sz="800"/>
            </a:br>
            <a:br>
              <a:rPr sz="800"/>
            </a:br>
            <a:r>
              <a:rPr b="0" lang="en-US" sz="8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JAN │ █████████████ 4,200</a:t>
            </a:r>
            <a:br>
              <a:rPr sz="800"/>
            </a:br>
            <a:r>
              <a:rPr b="0" lang="en-US" sz="8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FEB │ █████████████████ 5,800</a:t>
            </a:r>
            <a:br>
              <a:rPr sz="800"/>
            </a:br>
            <a:r>
              <a:rPr b="0" lang="en-US" sz="8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MAR │ ███████████ 3,400</a:t>
            </a:r>
            <a:br>
              <a:rPr sz="800"/>
            </a:br>
            <a:br>
              <a:rPr sz="800"/>
            </a:br>
            <a:r>
              <a:rPr b="0" lang="en-US" sz="8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YEAR TO DATE</a:t>
            </a:r>
            <a:br>
              <a:rPr sz="800"/>
            </a:br>
            <a:r>
              <a:rPr b="0" lang="en-US" sz="8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┌──────────────┬──────────┐</a:t>
            </a:r>
            <a:br>
              <a:rPr sz="800"/>
            </a:br>
            <a:r>
              <a:rPr b="0" lang="en-US" sz="8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│ Total H.T.   │  13,400.00│</a:t>
            </a:r>
            <a:br>
              <a:rPr sz="800"/>
            </a:br>
            <a:r>
              <a:rPr b="0" lang="en-US" sz="8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│ URSSAF (22%) │   2,948.00│</a:t>
            </a:r>
            <a:br>
              <a:rPr sz="800"/>
            </a:br>
            <a:r>
              <a:rPr b="0" lang="en-US" sz="8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│ Net revenue  │  10,452.00│</a:t>
            </a:r>
            <a:br>
              <a:rPr sz="800"/>
            </a:br>
            <a:r>
              <a:rPr b="0" lang="en-US" sz="8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└──────────────┴──────────┘</a:t>
            </a:r>
            <a:br>
              <a:rPr sz="800"/>
            </a:br>
            <a:br>
              <a:rPr sz="800"/>
            </a:br>
            <a:r>
              <a:rPr b="0" lang="en-US" sz="8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 VAT: ██████░░░░░░ 36% (13.4K/36.8K)</a:t>
            </a:r>
            <a:endParaRPr b="0" lang="fr-FR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Box 7"/>
          <p:cNvSpPr/>
          <p:nvPr/>
        </p:nvSpPr>
        <p:spPr>
          <a:xfrm>
            <a:off x="731520" y="6126480"/>
            <a:ext cx="1069812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681"/>
              </a:lnSpc>
            </a:pPr>
            <a:r>
              <a:rPr b="0" lang="en-US" sz="14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IBM 3270 green-on-black aesthetic — plus a modern clean theme with one-click toggle.</a:t>
            </a:r>
            <a:endParaRPr b="0" lang="fr-F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8"/>
          <p:cNvSpPr/>
          <p:nvPr/>
        </p:nvSpPr>
        <p:spPr>
          <a:xfrm>
            <a:off x="10972800" y="6400800"/>
            <a:ext cx="7311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r" defTabSz="457200">
              <a:lnSpc>
                <a:spcPts val="1199"/>
              </a:lnSpc>
            </a:pPr>
            <a:r>
              <a:rPr b="0" lang="en-US" sz="1000" strike="noStrike" u="none">
                <a:solidFill>
                  <a:srgbClr val="8888a0"/>
                </a:solidFill>
                <a:effectLst/>
                <a:uFillTx/>
                <a:latin typeface="Consolas"/>
              </a:rPr>
              <a:t>12 / 14</a:t>
            </a:r>
            <a:endParaRPr b="0" lang="fr-F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Box 1"/>
          <p:cNvSpPr/>
          <p:nvPr/>
        </p:nvSpPr>
        <p:spPr>
          <a:xfrm>
            <a:off x="731520" y="457200"/>
            <a:ext cx="365724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b="1" lang="en-US" sz="12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COMMERCIAL ANGLE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2"/>
          <p:cNvSpPr/>
          <p:nvPr/>
        </p:nvSpPr>
        <p:spPr>
          <a:xfrm>
            <a:off x="731520" y="822960"/>
            <a:ext cx="296964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 Real </a:t>
            </a:r>
            <a:r>
              <a:rPr b="1" lang="en-US" sz="36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Product</a:t>
            </a:r>
            <a:endParaRPr b="0" lang="fr-F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Rounded Rectangle 3"/>
          <p:cNvSpPr/>
          <p:nvPr/>
        </p:nvSpPr>
        <p:spPr>
          <a:xfrm>
            <a:off x="731520" y="1828800"/>
            <a:ext cx="5028840" cy="2742840"/>
          </a:xfrm>
          <a:prstGeom prst="roundRect">
            <a:avLst>
              <a:gd name="adj" fmla="val 16667"/>
            </a:avLst>
          </a:prstGeom>
          <a:solidFill>
            <a:srgbClr val="1819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TextBox 4"/>
          <p:cNvSpPr/>
          <p:nvPr/>
        </p:nvSpPr>
        <p:spPr>
          <a:xfrm>
            <a:off x="1005840" y="1920240"/>
            <a:ext cx="36572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321"/>
              </a:lnSpc>
            </a:pPr>
            <a:r>
              <a:rPr b="1" lang="en-US" sz="1100" strike="noStrike" u="none">
                <a:solidFill>
                  <a:srgbClr val="4da6ff"/>
                </a:solidFill>
                <a:effectLst/>
                <a:uFillTx/>
                <a:latin typeface="Consolas"/>
              </a:rPr>
              <a:t>PRICING (FREEMIUM)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5"/>
          <p:cNvSpPr/>
          <p:nvPr/>
        </p:nvSpPr>
        <p:spPr>
          <a:xfrm>
            <a:off x="1005840" y="2377440"/>
            <a:ext cx="118836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681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Free</a:t>
            </a:r>
            <a:endParaRPr b="0" lang="fr-F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6"/>
          <p:cNvSpPr/>
          <p:nvPr/>
        </p:nvSpPr>
        <p:spPr>
          <a:xfrm>
            <a:off x="2194560" y="2377440"/>
            <a:ext cx="10969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681"/>
              </a:lnSpc>
            </a:pPr>
            <a:r>
              <a:rPr b="1" lang="en-US" sz="14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€0</a:t>
            </a:r>
            <a:endParaRPr b="0" lang="fr-F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7"/>
          <p:cNvSpPr/>
          <p:nvPr/>
        </p:nvSpPr>
        <p:spPr>
          <a:xfrm>
            <a:off x="3383280" y="2377440"/>
            <a:ext cx="228564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b="0" lang="en-US" sz="12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5 invoices/mo, 1 client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8"/>
          <p:cNvSpPr/>
          <p:nvPr/>
        </p:nvSpPr>
        <p:spPr>
          <a:xfrm>
            <a:off x="1005840" y="2926080"/>
            <a:ext cx="118836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681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Pro</a:t>
            </a:r>
            <a:endParaRPr b="0" lang="fr-F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9"/>
          <p:cNvSpPr/>
          <p:nvPr/>
        </p:nvSpPr>
        <p:spPr>
          <a:xfrm>
            <a:off x="2194560" y="2926080"/>
            <a:ext cx="10969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681"/>
              </a:lnSpc>
            </a:pPr>
            <a:r>
              <a:rPr b="1" lang="en-US" sz="14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€5/mo</a:t>
            </a:r>
            <a:endParaRPr b="0" lang="fr-F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10"/>
          <p:cNvSpPr/>
          <p:nvPr/>
        </p:nvSpPr>
        <p:spPr>
          <a:xfrm>
            <a:off x="3383280" y="2926080"/>
            <a:ext cx="228564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b="0" lang="en-US" sz="12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Unlimited, URSSAF, branding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11"/>
          <p:cNvSpPr/>
          <p:nvPr/>
        </p:nvSpPr>
        <p:spPr>
          <a:xfrm>
            <a:off x="1005840" y="3474720"/>
            <a:ext cx="118836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681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Business</a:t>
            </a:r>
            <a:endParaRPr b="0" lang="fr-F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12"/>
          <p:cNvSpPr/>
          <p:nvPr/>
        </p:nvSpPr>
        <p:spPr>
          <a:xfrm>
            <a:off x="2194560" y="3474720"/>
            <a:ext cx="10969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681"/>
              </a:lnSpc>
            </a:pPr>
            <a:r>
              <a:rPr b="1" lang="en-US" sz="14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€15/mo</a:t>
            </a:r>
            <a:endParaRPr b="0" lang="fr-F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13"/>
          <p:cNvSpPr/>
          <p:nvPr/>
        </p:nvSpPr>
        <p:spPr>
          <a:xfrm>
            <a:off x="3383280" y="3474720"/>
            <a:ext cx="228564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b="0" lang="en-US" sz="12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Multi-user, API, exports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Rounded Rectangle 14"/>
          <p:cNvSpPr/>
          <p:nvPr/>
        </p:nvSpPr>
        <p:spPr>
          <a:xfrm>
            <a:off x="6400800" y="1828800"/>
            <a:ext cx="5028840" cy="2742840"/>
          </a:xfrm>
          <a:prstGeom prst="roundRect">
            <a:avLst>
              <a:gd name="adj" fmla="val 16667"/>
            </a:avLst>
          </a:prstGeom>
          <a:solidFill>
            <a:srgbClr val="1819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6" name="TextBox 15"/>
          <p:cNvSpPr/>
          <p:nvPr/>
        </p:nvSpPr>
        <p:spPr>
          <a:xfrm>
            <a:off x="6675120" y="1920240"/>
            <a:ext cx="36572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321"/>
              </a:lnSpc>
            </a:pPr>
            <a:r>
              <a:rPr b="1" lang="en-US" sz="1100" strike="noStrike" u="none">
                <a:solidFill>
                  <a:srgbClr val="a78bfa"/>
                </a:solidFill>
                <a:effectLst/>
                <a:uFillTx/>
                <a:latin typeface="Consolas"/>
              </a:rPr>
              <a:t>VS. COMPETITION</a:t>
            </a:r>
            <a:endParaRPr b="0" lang="fr-F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16"/>
          <p:cNvSpPr/>
          <p:nvPr/>
        </p:nvSpPr>
        <p:spPr>
          <a:xfrm>
            <a:off x="6675120" y="2377440"/>
            <a:ext cx="16455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b="0" lang="en-US" sz="12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Precision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17"/>
          <p:cNvSpPr/>
          <p:nvPr/>
        </p:nvSpPr>
        <p:spPr>
          <a:xfrm>
            <a:off x="8412480" y="2377440"/>
            <a:ext cx="11883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440"/>
              </a:lnSpc>
            </a:pPr>
            <a:r>
              <a:rPr b="1" lang="en-US" sz="12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Exact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18"/>
          <p:cNvSpPr/>
          <p:nvPr/>
        </p:nvSpPr>
        <p:spPr>
          <a:xfrm>
            <a:off x="9692640" y="2377440"/>
            <a:ext cx="13712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440"/>
              </a:lnSpc>
            </a:pPr>
            <a:r>
              <a:rPr b="0" lang="en-US" sz="1200" strike="noStrike" u="none">
                <a:solidFill>
                  <a:srgbClr val="ff4d6a"/>
                </a:solidFill>
                <a:effectLst/>
                <a:uFillTx/>
                <a:latin typeface="Calibri"/>
              </a:rPr>
              <a:t>Float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19"/>
          <p:cNvSpPr/>
          <p:nvPr/>
        </p:nvSpPr>
        <p:spPr>
          <a:xfrm>
            <a:off x="6675120" y="2788920"/>
            <a:ext cx="16455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b="0" lang="en-US" sz="12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PDF engine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20"/>
          <p:cNvSpPr/>
          <p:nvPr/>
        </p:nvSpPr>
        <p:spPr>
          <a:xfrm>
            <a:off x="8412480" y="2788920"/>
            <a:ext cx="11883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440"/>
              </a:lnSpc>
            </a:pPr>
            <a:r>
              <a:rPr b="1" lang="en-US" sz="12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Native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21"/>
          <p:cNvSpPr/>
          <p:nvPr/>
        </p:nvSpPr>
        <p:spPr>
          <a:xfrm>
            <a:off x="9692640" y="2788920"/>
            <a:ext cx="13712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440"/>
              </a:lnSpc>
            </a:pPr>
            <a:r>
              <a:rPr b="0" lang="en-US" sz="12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Library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22"/>
          <p:cNvSpPr/>
          <p:nvPr/>
        </p:nvSpPr>
        <p:spPr>
          <a:xfrm>
            <a:off x="6675120" y="3200400"/>
            <a:ext cx="16455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b="0" lang="en-US" sz="12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Frontend JS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Box 23"/>
          <p:cNvSpPr/>
          <p:nvPr/>
        </p:nvSpPr>
        <p:spPr>
          <a:xfrm>
            <a:off x="8412480" y="3200400"/>
            <a:ext cx="11883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440"/>
              </a:lnSpc>
            </a:pPr>
            <a:r>
              <a:rPr b="1" lang="en-US" sz="12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14 KB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24"/>
          <p:cNvSpPr/>
          <p:nvPr/>
        </p:nvSpPr>
        <p:spPr>
          <a:xfrm>
            <a:off x="9692640" y="3200400"/>
            <a:ext cx="13712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440"/>
              </a:lnSpc>
            </a:pPr>
            <a:r>
              <a:rPr b="0" lang="en-US" sz="12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200+ KB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25"/>
          <p:cNvSpPr/>
          <p:nvPr/>
        </p:nvSpPr>
        <p:spPr>
          <a:xfrm>
            <a:off x="6675120" y="3611880"/>
            <a:ext cx="16455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b="0" lang="en-US" sz="12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npm packages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26"/>
          <p:cNvSpPr/>
          <p:nvPr/>
        </p:nvSpPr>
        <p:spPr>
          <a:xfrm>
            <a:off x="8412480" y="3611880"/>
            <a:ext cx="11883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440"/>
              </a:lnSpc>
            </a:pPr>
            <a:r>
              <a:rPr b="1" lang="en-US" sz="12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0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27"/>
          <p:cNvSpPr/>
          <p:nvPr/>
        </p:nvSpPr>
        <p:spPr>
          <a:xfrm>
            <a:off x="9692640" y="3611880"/>
            <a:ext cx="13712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440"/>
              </a:lnSpc>
            </a:pPr>
            <a:r>
              <a:rPr b="0" lang="en-US" sz="12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500+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28"/>
          <p:cNvSpPr/>
          <p:nvPr/>
        </p:nvSpPr>
        <p:spPr>
          <a:xfrm>
            <a:off x="6675120" y="4023360"/>
            <a:ext cx="16455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b="0" lang="en-US" sz="12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Infra cost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29"/>
          <p:cNvSpPr/>
          <p:nvPr/>
        </p:nvSpPr>
        <p:spPr>
          <a:xfrm>
            <a:off x="8412480" y="4023360"/>
            <a:ext cx="11883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440"/>
              </a:lnSpc>
            </a:pPr>
            <a:r>
              <a:rPr b="1" lang="en-US" sz="12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$2/mo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30"/>
          <p:cNvSpPr/>
          <p:nvPr/>
        </p:nvSpPr>
        <p:spPr>
          <a:xfrm>
            <a:off x="9692640" y="4023360"/>
            <a:ext cx="13712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440"/>
              </a:lnSpc>
            </a:pPr>
            <a:r>
              <a:rPr b="0" lang="en-US" sz="12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$15+/mo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Rounded Rectangle 31"/>
          <p:cNvSpPr/>
          <p:nvPr/>
        </p:nvSpPr>
        <p:spPr>
          <a:xfrm>
            <a:off x="731520" y="4937760"/>
            <a:ext cx="10698120" cy="1096920"/>
          </a:xfrm>
          <a:prstGeom prst="roundRect">
            <a:avLst>
              <a:gd name="adj" fmla="val 16667"/>
            </a:avLst>
          </a:prstGeom>
          <a:solidFill>
            <a:srgbClr val="181924"/>
          </a:solidFill>
          <a:ln w="12700">
            <a:solidFill>
              <a:srgbClr val="1a8c1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3" name="Rectangle 32"/>
          <p:cNvSpPr/>
          <p:nvPr/>
        </p:nvSpPr>
        <p:spPr>
          <a:xfrm>
            <a:off x="731520" y="4937760"/>
            <a:ext cx="54360" cy="36360"/>
          </a:xfrm>
          <a:prstGeom prst="rect">
            <a:avLst/>
          </a:prstGeom>
          <a:solidFill>
            <a:srgbClr val="33ff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4" name="TextBox 33"/>
          <p:cNvSpPr/>
          <p:nvPr/>
        </p:nvSpPr>
        <p:spPr>
          <a:xfrm>
            <a:off x="1188720" y="5074920"/>
            <a:ext cx="987516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2401"/>
              </a:lnSpc>
            </a:pPr>
            <a:r>
              <a:rPr b="0" lang="en-US" sz="1600" strike="noStrike" u="none">
                <a:solidFill>
                  <a:srgbClr val="e0e0ef"/>
                </a:solidFill>
                <a:effectLst/>
                <a:uFillTx/>
                <a:latin typeface="Calibri"/>
              </a:rPr>
              <a:t>No competitor uses COBOL for decimal-exact calculations</a:t>
            </a:r>
            <a:br>
              <a:rPr sz="1600"/>
            </a:br>
            <a:r>
              <a:rPr b="0" lang="en-US" sz="1600" strike="noStrike" u="none">
                <a:solidFill>
                  <a:srgbClr val="e0e0ef"/>
                </a:solidFill>
                <a:effectLst/>
                <a:uFillTx/>
                <a:latin typeface="Calibri"/>
              </a:rPr>
              <a:t>or PostScript for native PDF generation.</a:t>
            </a:r>
            <a:br>
              <a:rPr sz="1600"/>
            </a:br>
            <a:r>
              <a:rPr b="0" lang="en-US" sz="1600" strike="noStrike" u="none">
                <a:solidFill>
                  <a:srgbClr val="e0e0ef"/>
                </a:solidFill>
                <a:effectLst/>
                <a:uFillTx/>
                <a:latin typeface="Calibri"/>
              </a:rPr>
              <a:t>The marketing angle is unique and unforgettable.</a:t>
            </a:r>
            <a:endParaRPr b="0" lang="fr-F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34"/>
          <p:cNvSpPr/>
          <p:nvPr/>
        </p:nvSpPr>
        <p:spPr>
          <a:xfrm>
            <a:off x="10972800" y="6400800"/>
            <a:ext cx="7311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r" defTabSz="457200">
              <a:lnSpc>
                <a:spcPts val="1199"/>
              </a:lnSpc>
            </a:pPr>
            <a:r>
              <a:rPr b="0" lang="en-US" sz="1000" strike="noStrike" u="none">
                <a:solidFill>
                  <a:srgbClr val="8888a0"/>
                </a:solidFill>
                <a:effectLst/>
                <a:uFillTx/>
                <a:latin typeface="Consolas"/>
              </a:rPr>
              <a:t>13 / 14</a:t>
            </a:r>
            <a:endParaRPr b="0" lang="fr-F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extBox 1"/>
          <p:cNvSpPr/>
          <p:nvPr/>
        </p:nvSpPr>
        <p:spPr>
          <a:xfrm>
            <a:off x="4838760" y="1097280"/>
            <a:ext cx="251352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6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</a:t>
            </a:r>
            <a:r>
              <a:rPr b="1" lang="en-US" sz="6400" strike="noStrike" u="none">
                <a:solidFill>
                  <a:srgbClr val="33ff33"/>
                </a:solidFill>
                <a:effectLst/>
                <a:uFillTx/>
                <a:latin typeface="Calibri"/>
              </a:rPr>
              <a:t>BILL</a:t>
            </a:r>
            <a:endParaRPr b="0" lang="fr-FR" sz="6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2"/>
          <p:cNvSpPr/>
          <p:nvPr/>
        </p:nvSpPr>
        <p:spPr>
          <a:xfrm>
            <a:off x="0" y="2194560"/>
            <a:ext cx="121914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2639"/>
              </a:lnSpc>
            </a:pPr>
            <a:r>
              <a:rPr b="0" lang="en-US" sz="22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Where 1959 meets 1985 meets 2026.</a:t>
            </a:r>
            <a:endParaRPr b="0" lang="fr-FR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3"/>
          <p:cNvSpPr/>
          <p:nvPr/>
        </p:nvSpPr>
        <p:spPr>
          <a:xfrm>
            <a:off x="0" y="2651760"/>
            <a:ext cx="121914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2160"/>
              </a:lnSpc>
            </a:pPr>
            <a:r>
              <a:rPr b="0" lang="en-US" sz="18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Two languages. Zero dependencies. Perfect invoices.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4"/>
          <p:cNvSpPr/>
          <p:nvPr/>
        </p:nvSpPr>
        <p:spPr>
          <a:xfrm>
            <a:off x="2743200" y="3474720"/>
            <a:ext cx="22856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3359"/>
              </a:lnSpc>
            </a:pPr>
            <a:r>
              <a:rPr b="1" lang="en-US" sz="2800" strike="noStrike" u="none">
                <a:solidFill>
                  <a:srgbClr val="33ff33"/>
                </a:solidFill>
                <a:effectLst/>
                <a:uFillTx/>
                <a:latin typeface="Consolas"/>
              </a:rPr>
              <a:t>COBOL</a:t>
            </a:r>
            <a:endParaRPr b="0" lang="fr-F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5"/>
          <p:cNvSpPr/>
          <p:nvPr/>
        </p:nvSpPr>
        <p:spPr>
          <a:xfrm>
            <a:off x="2743200" y="3977640"/>
            <a:ext cx="2285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559"/>
              </a:lnSpc>
            </a:pPr>
            <a:r>
              <a:rPr b="0" lang="en-US" sz="13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calculates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6"/>
          <p:cNvSpPr/>
          <p:nvPr/>
        </p:nvSpPr>
        <p:spPr>
          <a:xfrm>
            <a:off x="5220000" y="3474720"/>
            <a:ext cx="23691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3359"/>
              </a:lnSpc>
            </a:pPr>
            <a:r>
              <a:rPr b="1" lang="en-US" sz="2800" strike="noStrike" u="none">
                <a:solidFill>
                  <a:srgbClr val="4da6ff"/>
                </a:solidFill>
                <a:effectLst/>
                <a:uFillTx/>
                <a:latin typeface="Consolas"/>
              </a:rPr>
              <a:t>PostScript</a:t>
            </a:r>
            <a:endParaRPr b="0" lang="fr-F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Box 7"/>
          <p:cNvSpPr/>
          <p:nvPr/>
        </p:nvSpPr>
        <p:spPr>
          <a:xfrm>
            <a:off x="5274360" y="4045320"/>
            <a:ext cx="2285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559"/>
              </a:lnSpc>
            </a:pPr>
            <a:r>
              <a:rPr b="0" lang="en-US" sz="13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renders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8"/>
          <p:cNvSpPr/>
          <p:nvPr/>
        </p:nvSpPr>
        <p:spPr>
          <a:xfrm>
            <a:off x="7863840" y="3474720"/>
            <a:ext cx="22856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3359"/>
              </a:lnSpc>
            </a:pPr>
            <a:r>
              <a:rPr b="1" lang="en-US" sz="2800" strike="noStrike" u="none">
                <a:solidFill>
                  <a:srgbClr val="a78bfa"/>
                </a:solidFill>
                <a:effectLst/>
                <a:uFillTx/>
                <a:latin typeface="Consolas"/>
              </a:rPr>
              <a:t>HTMX</a:t>
            </a:r>
            <a:endParaRPr b="0" lang="fr-F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9"/>
          <p:cNvSpPr/>
          <p:nvPr/>
        </p:nvSpPr>
        <p:spPr>
          <a:xfrm>
            <a:off x="7863840" y="3977640"/>
            <a:ext cx="2285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559"/>
              </a:lnSpc>
            </a:pPr>
            <a:r>
              <a:rPr b="0" lang="en-US" sz="13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delivers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Rounded Rectangle 10"/>
          <p:cNvSpPr/>
          <p:nvPr/>
        </p:nvSpPr>
        <p:spPr>
          <a:xfrm>
            <a:off x="2286000" y="4754880"/>
            <a:ext cx="7589160" cy="822600"/>
          </a:xfrm>
          <a:prstGeom prst="roundRect">
            <a:avLst>
              <a:gd name="adj" fmla="val 16667"/>
            </a:avLst>
          </a:prstGeom>
          <a:solidFill>
            <a:srgbClr val="1213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6" name="Rectangle 11"/>
          <p:cNvSpPr/>
          <p:nvPr/>
        </p:nvSpPr>
        <p:spPr>
          <a:xfrm>
            <a:off x="2286000" y="4754880"/>
            <a:ext cx="54360" cy="36360"/>
          </a:xfrm>
          <a:prstGeom prst="rect">
            <a:avLst/>
          </a:prstGeom>
          <a:solidFill>
            <a:srgbClr val="33ff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7" name="TextBox 12"/>
          <p:cNvSpPr/>
          <p:nvPr/>
        </p:nvSpPr>
        <p:spPr>
          <a:xfrm>
            <a:off x="2743200" y="4846320"/>
            <a:ext cx="685764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800"/>
              </a:lnSpc>
            </a:pPr>
            <a:r>
              <a:rPr b="0" lang="en-US" sz="15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"Built with the same technology that processes 95% of the</a:t>
            </a:r>
            <a:br>
              <a:rPr sz="1500"/>
            </a:br>
            <a:r>
              <a:rPr b="0" lang="en-US" sz="15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world's financial transactions. Not because it's trendy — because it's right."</a:t>
            </a:r>
            <a:endParaRPr b="0" lang="fr-F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Box 13"/>
          <p:cNvSpPr/>
          <p:nvPr/>
        </p:nvSpPr>
        <p:spPr>
          <a:xfrm>
            <a:off x="0" y="5852160"/>
            <a:ext cx="121914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2401"/>
              </a:lnSpc>
            </a:pPr>
            <a:r>
              <a:rPr b="0" lang="en-US" sz="2000" strike="noStrike" u="none">
                <a:solidFill>
                  <a:srgbClr val="e0e0ef"/>
                </a:solidFill>
                <a:effectLst/>
                <a:uFillTx/>
                <a:latin typeface="Calibri"/>
              </a:rPr>
              <a:t>Thank you. Questions?</a:t>
            </a:r>
            <a:endParaRPr b="0" lang="fr-F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14"/>
          <p:cNvSpPr/>
          <p:nvPr/>
        </p:nvSpPr>
        <p:spPr>
          <a:xfrm>
            <a:off x="0" y="6309360"/>
            <a:ext cx="121914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ts val="1681"/>
              </a:lnSpc>
            </a:pPr>
            <a:r>
              <a:rPr b="0" lang="en-US" sz="1400" strike="noStrike" u="none">
                <a:solidFill>
                  <a:srgbClr val="8888a0"/>
                </a:solidFill>
                <a:effectLst/>
                <a:uFillTx/>
                <a:latin typeface="Calibri"/>
              </a:rPr>
              <a:t>Frédéric Bourouliou</a:t>
            </a:r>
            <a:endParaRPr b="0" lang="fr-F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Box 15"/>
          <p:cNvSpPr/>
          <p:nvPr/>
        </p:nvSpPr>
        <p:spPr>
          <a:xfrm>
            <a:off x="10972800" y="6400800"/>
            <a:ext cx="7311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r" defTabSz="457200">
              <a:lnSpc>
                <a:spcPts val="1199"/>
              </a:lnSpc>
            </a:pPr>
            <a:r>
              <a:rPr b="0" lang="en-US" sz="1000" strike="noStrike" u="none">
                <a:solidFill>
                  <a:srgbClr val="8888a0"/>
                </a:solidFill>
                <a:effectLst/>
                <a:uFillTx/>
                <a:latin typeface="Consolas"/>
              </a:rPr>
              <a:t>14 / 14</a:t>
            </a:r>
            <a:endParaRPr b="0" lang="fr-F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LibreOffice/25.2.1.2$MacOSX_AARCH64 LibreOffice_project/d3abf4aee5fd705e4a92bba33a32f40bc4e56f49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fr-FR</dc:language>
  <cp:lastModifiedBy/>
  <dcterms:modified xsi:type="dcterms:W3CDTF">2026-03-25T22:47:06Z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